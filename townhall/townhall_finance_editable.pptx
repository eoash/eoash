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978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628" y="133316"/>
            <a:ext cx="3809047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75" b="1">
                <a:solidFill>
                  <a:srgbClr val="E8FF47"/>
                </a:solidFill>
                <a:latin typeface="Malgun Gothic"/>
              </a:rPr>
              <a:t>FINANCE  ·  2026.02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628" y="342814"/>
            <a:ext cx="6665833" cy="28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50" b="1">
                <a:solidFill>
                  <a:srgbClr val="E8FF47"/>
                </a:solidFill>
                <a:latin typeface="Malgun Gothic"/>
              </a:rPr>
              <a:t>Revenue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628" y="685628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628" y="6513471"/>
            <a:ext cx="285678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00" b="0">
                <a:solidFill>
                  <a:srgbClr val="444444"/>
                </a:solidFill>
                <a:latin typeface="Malgun Gothic"/>
              </a:rPr>
              <a:t>EO STUDIO TOWNHALL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6287" y="6513471"/>
            <a:ext cx="85703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00" b="0">
                <a:solidFill>
                  <a:srgbClr val="444444"/>
                </a:solidFill>
                <a:latin typeface="Malgun Gothic"/>
              </a:rPr>
              <a:t>02 /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780854"/>
            <a:ext cx="5713571" cy="1904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algun Gothic"/>
              </a:rPr>
              <a:t>Jan–Feb Cumulative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952261"/>
            <a:ext cx="2050241" cy="8309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5400" b="1" dirty="0">
                <a:solidFill>
                  <a:srgbClr val="FFFFFF"/>
                </a:solidFill>
                <a:latin typeface="Malgun Gothic"/>
              </a:rPr>
              <a:t>$360K</a:t>
            </a:r>
            <a:endParaRPr sz="54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628" y="1742639"/>
            <a:ext cx="7618095" cy="209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75" b="0">
                <a:solidFill>
                  <a:srgbClr val="666666"/>
                </a:solidFill>
                <a:latin typeface="Malgun Gothic"/>
              </a:rPr>
              <a:t>Global 94% Contribution  ·  YoY -8% (Same BU Base)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628" y="1971182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628" y="1999749"/>
            <a:ext cx="533266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945" y="2133066"/>
            <a:ext cx="5066033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50" b="1">
                <a:solidFill>
                  <a:srgbClr val="444444"/>
                </a:solidFill>
                <a:latin typeface="Malgun Gothic"/>
              </a:rPr>
              <a:t>MONTHLY REVENUE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945" y="2342564"/>
            <a:ext cx="5066033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7990" y="2437790"/>
            <a:ext cx="142839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0654" y="2437790"/>
            <a:ext cx="952261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25" b="1">
                <a:solidFill>
                  <a:srgbClr val="444444"/>
                </a:solidFill>
                <a:latin typeface="Malgun Gothic"/>
              </a:rPr>
              <a:t>Jan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323" y="2437790"/>
            <a:ext cx="952261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25" b="1">
                <a:solidFill>
                  <a:srgbClr val="444444"/>
                </a:solidFill>
                <a:latin typeface="Malgun Gothic"/>
              </a:rPr>
              <a:t>Feb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7992" y="2437790"/>
            <a:ext cx="1085578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25" b="1">
                <a:solidFill>
                  <a:srgbClr val="444444"/>
                </a:solidFill>
                <a:latin typeface="Malgun Gothic"/>
              </a:rPr>
              <a:t>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7990" y="2666333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990" y="2780604"/>
            <a:ext cx="1523619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algun Gothic"/>
              </a:rPr>
              <a:t>KR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0654" y="2780604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Malgun Gothic"/>
              </a:rPr>
              <a:t>₩1.6M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323" y="2780604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 dirty="0">
                <a:solidFill>
                  <a:srgbClr val="FFFFFF"/>
                </a:solidFill>
                <a:latin typeface="Malgun Gothic"/>
              </a:rPr>
              <a:t>₩13.1M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4878" y="2780604"/>
            <a:ext cx="36869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$12K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7990" y="3628117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990" y="3685253"/>
            <a:ext cx="1523619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Malgun Gothic"/>
              </a:rPr>
              <a:t>KR Planet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0654" y="3685253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Malgun Gothic"/>
              </a:rPr>
              <a:t>₩6.5M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4323" y="3685253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Malgun Gothic"/>
              </a:rPr>
              <a:t>₩5.0M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4804" y="3685253"/>
            <a:ext cx="408766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$9.5K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37990" y="4532766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7990" y="4589902"/>
            <a:ext cx="1523619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algun Gothic"/>
              </a:rPr>
              <a:t>GL Global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0654" y="4589902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Malgun Gothic"/>
              </a:rPr>
              <a:t>₩320.7M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4323" y="4589902"/>
            <a:ext cx="952261" cy="247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Malgun Gothic"/>
              </a:rPr>
              <a:t>₩85.2M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5111" y="4589902"/>
            <a:ext cx="45845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$338K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37990" y="5437415"/>
            <a:ext cx="5027942" cy="952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7990" y="5513596"/>
            <a:ext cx="1523619" cy="2666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Malgun Gothic"/>
              </a:rPr>
              <a:t>Total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80654" y="5513596"/>
            <a:ext cx="952261" cy="2666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50" b="1">
                <a:solidFill>
                  <a:srgbClr val="FFFFFF"/>
                </a:solidFill>
                <a:latin typeface="Malgun Gothic"/>
              </a:rPr>
              <a:t>₩328.9M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04323" y="5513596"/>
            <a:ext cx="952261" cy="2666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50" b="1">
                <a:solidFill>
                  <a:srgbClr val="FFFFFF"/>
                </a:solidFill>
                <a:latin typeface="Malgun Gothic"/>
              </a:rPr>
              <a:t>₩103.3M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7992" y="5513596"/>
            <a:ext cx="1085578" cy="2666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50" b="1">
                <a:solidFill>
                  <a:srgbClr val="E8FF47"/>
                </a:solidFill>
                <a:latin typeface="Malgun Gothic"/>
              </a:rPr>
              <a:t>₩432.2M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0656" y="1999749"/>
            <a:ext cx="533266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3973" y="2133066"/>
            <a:ext cx="5066033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50" b="1">
                <a:solidFill>
                  <a:srgbClr val="444444"/>
                </a:solidFill>
                <a:latin typeface="Malgun Gothic"/>
              </a:rPr>
              <a:t>YOY  2025 vs 2026 (Same BU)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3973" y="2342564"/>
            <a:ext cx="5066033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03973" y="4565071"/>
            <a:ext cx="2475880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Malgun Gothic"/>
              </a:rPr>
              <a:t>GL Global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3973" y="4812659"/>
            <a:ext cx="94096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444444"/>
                </a:solidFill>
                <a:latin typeface="Malgun Gothic"/>
              </a:rPr>
              <a:t>2025:  </a:t>
            </a:r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$266K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198849" y="4488890"/>
            <a:ext cx="2133066" cy="55231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3300" b="1">
                <a:solidFill>
                  <a:srgbClr val="0AFF6C"/>
                </a:solidFill>
                <a:latin typeface="Malgun Gothic"/>
              </a:rPr>
              <a:t>+27%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23018" y="3371007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3973" y="2652175"/>
            <a:ext cx="2475880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Malgun Gothic"/>
              </a:rPr>
              <a:t>KR Content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3973" y="2899763"/>
            <a:ext cx="87684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444444"/>
                </a:solidFill>
                <a:latin typeface="Malgun Gothic"/>
              </a:rPr>
              <a:t>2025:  </a:t>
            </a:r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$52.5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198849" y="2575994"/>
            <a:ext cx="2133066" cy="55231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3300" b="1">
                <a:solidFill>
                  <a:srgbClr val="FF2D55"/>
                </a:solidFill>
                <a:latin typeface="Malgun Gothic"/>
              </a:rPr>
              <a:t>-77%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3018" y="4361359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3973" y="3610352"/>
            <a:ext cx="2475880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Malgun Gothic"/>
              </a:rPr>
              <a:t>KR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3973" y="3857940"/>
            <a:ext cx="981038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444444"/>
                </a:solidFill>
                <a:latin typeface="Malgun Gothic"/>
              </a:rPr>
              <a:t>2025:  </a:t>
            </a:r>
            <a:r>
              <a:rPr lang="en-US" sz="1200" b="1" dirty="0">
                <a:solidFill>
                  <a:srgbClr val="E8FF47"/>
                </a:solidFill>
                <a:latin typeface="Malgun Gothic"/>
              </a:rPr>
              <a:t>$72.5K</a:t>
            </a:r>
            <a:endParaRPr sz="1200" b="1" dirty="0">
              <a:solidFill>
                <a:srgbClr val="E8FF47"/>
              </a:solidFill>
              <a:latin typeface="Malgun Gothic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198849" y="3534171"/>
            <a:ext cx="2133066" cy="55231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3300" b="1">
                <a:solidFill>
                  <a:srgbClr val="FF2D55"/>
                </a:solidFill>
                <a:latin typeface="Malgun Gothic"/>
              </a:rPr>
              <a:t>-87%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3018" y="5351711"/>
            <a:ext cx="5027942" cy="952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23018" y="5446937"/>
            <a:ext cx="2856785" cy="28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Malgun Gothic"/>
              </a:rPr>
              <a:t>Overall (Same BU)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17894" y="5370756"/>
            <a:ext cx="2133066" cy="57135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3450" b="1">
                <a:solidFill>
                  <a:srgbClr val="FF2D55"/>
                </a:solidFill>
                <a:latin typeface="Malgun Gothic"/>
              </a:rPr>
              <a:t>-8%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628" y="133316"/>
            <a:ext cx="3809047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75" b="1">
                <a:solidFill>
                  <a:srgbClr val="E8FF47"/>
                </a:solidFill>
                <a:latin typeface="Malgun Gothic"/>
              </a:rPr>
              <a:t>FINANCE  ·  2026.02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628" y="342814"/>
            <a:ext cx="6665833" cy="28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50" b="1">
                <a:solidFill>
                  <a:srgbClr val="E8FF47"/>
                </a:solidFill>
                <a:latin typeface="Malgun Gothic"/>
              </a:rPr>
              <a:t>Cash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628" y="685628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628" y="6513471"/>
            <a:ext cx="285678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00" b="0">
                <a:solidFill>
                  <a:srgbClr val="444444"/>
                </a:solidFill>
                <a:latin typeface="Malgun Gothic"/>
              </a:rPr>
              <a:t>EO STUDIO TOWNHALL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6287" y="6513471"/>
            <a:ext cx="85703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00" b="0">
                <a:solidFill>
                  <a:srgbClr val="444444"/>
                </a:solidFill>
                <a:latin typeface="Malgun Gothic"/>
              </a:rPr>
              <a:t>01 /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780854"/>
            <a:ext cx="5713571" cy="1904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algun Gothic"/>
              </a:rPr>
              <a:t>Consolidated Cash 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952261"/>
            <a:ext cx="2050241" cy="8309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5400" b="1" dirty="0">
                <a:solidFill>
                  <a:srgbClr val="FFFFFF"/>
                </a:solidFill>
                <a:latin typeface="Malgun Gothic"/>
              </a:rPr>
              <a:t>$174K</a:t>
            </a:r>
            <a:endParaRPr sz="54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628" y="1742639"/>
            <a:ext cx="1913985" cy="1962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75" b="1" dirty="0">
                <a:solidFill>
                  <a:srgbClr val="FF2D55"/>
                </a:solidFill>
                <a:latin typeface="Malgun Gothic"/>
              </a:rPr>
              <a:t>▼ </a:t>
            </a:r>
            <a:r>
              <a:rPr lang="en-US" sz="1275" b="1" dirty="0">
                <a:solidFill>
                  <a:srgbClr val="FF2D55"/>
                </a:solidFill>
                <a:latin typeface="Malgun Gothic"/>
              </a:rPr>
              <a:t>$125K </a:t>
            </a:r>
            <a:r>
              <a:rPr sz="1275" b="1" dirty="0">
                <a:solidFill>
                  <a:srgbClr val="FF2D55"/>
                </a:solidFill>
                <a:latin typeface="Malgun Gothic"/>
              </a:rPr>
              <a:t>vs. Last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628" y="1971182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628" y="1999749"/>
            <a:ext cx="533266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945" y="2133066"/>
            <a:ext cx="5066033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50" b="1">
                <a:solidFill>
                  <a:srgbClr val="444444"/>
                </a:solidFill>
                <a:latin typeface="Malgun Gothic"/>
              </a:rPr>
              <a:t>BY ENTITY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945" y="2342564"/>
            <a:ext cx="5066033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7990" y="2475880"/>
            <a:ext cx="5027942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Korea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90" y="2742514"/>
            <a:ext cx="5027942" cy="514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Malgun Gothic"/>
              </a:rPr>
              <a:t>₩95M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990" y="3694776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990" y="3790002"/>
            <a:ext cx="5027942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90" y="4056635"/>
            <a:ext cx="5027942" cy="514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$71K  ·  ₩103M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7990" y="5008897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990" y="5104123"/>
            <a:ext cx="5027942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Vietnam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90" y="5370756"/>
            <a:ext cx="5027942" cy="514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₩12M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0656" y="1999749"/>
            <a:ext cx="533266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3973" y="2133066"/>
            <a:ext cx="5066033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50" b="1">
                <a:solidFill>
                  <a:srgbClr val="444444"/>
                </a:solidFill>
                <a:latin typeface="Malgun Gothic"/>
              </a:rPr>
              <a:t>NET CHANGE  JAN → FEB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3973" y="2342564"/>
            <a:ext cx="5066033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23018" y="2761559"/>
            <a:ext cx="1904523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Korea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1607" y="2666333"/>
            <a:ext cx="1149354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400" b="1" dirty="0">
                <a:solidFill>
                  <a:srgbClr val="FF2D55"/>
                </a:solidFill>
                <a:latin typeface="Malgun Gothic"/>
              </a:rPr>
              <a:t>▼ </a:t>
            </a:r>
            <a:r>
              <a:rPr lang="en-US" sz="2400" b="1" dirty="0">
                <a:solidFill>
                  <a:srgbClr val="FF2D55"/>
                </a:solidFill>
                <a:latin typeface="Malgun Gothic"/>
              </a:rPr>
              <a:t>$39K</a:t>
            </a:r>
            <a:endParaRPr sz="2400" b="1" dirty="0">
              <a:solidFill>
                <a:srgbClr val="FF2D55"/>
              </a:solidFill>
              <a:latin typeface="Malgun Gothic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3018" y="3371007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3018" y="3751911"/>
            <a:ext cx="1904523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01607" y="3656685"/>
            <a:ext cx="1149354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400" b="1" dirty="0">
                <a:solidFill>
                  <a:srgbClr val="FF2D55"/>
                </a:solidFill>
                <a:latin typeface="Malgun Gothic"/>
              </a:rPr>
              <a:t>▼ </a:t>
            </a:r>
            <a:r>
              <a:rPr lang="en-US" sz="2400" b="1" dirty="0">
                <a:solidFill>
                  <a:srgbClr val="FF2D55"/>
                </a:solidFill>
                <a:latin typeface="Malgun Gothic"/>
              </a:rPr>
              <a:t>$78K</a:t>
            </a:r>
            <a:endParaRPr sz="2400" b="1" dirty="0">
              <a:solidFill>
                <a:srgbClr val="FF2D55"/>
              </a:solidFill>
              <a:latin typeface="Malgun Gothic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323018" y="4361359"/>
            <a:ext cx="502794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3018" y="4742264"/>
            <a:ext cx="1904523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Malgun Gothic"/>
              </a:rPr>
              <a:t>Vietnam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01607" y="4647037"/>
            <a:ext cx="1149354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400" b="1" dirty="0">
                <a:solidFill>
                  <a:srgbClr val="FF2D55"/>
                </a:solidFill>
                <a:latin typeface="Malgun Gothic"/>
              </a:rPr>
              <a:t>▼ </a:t>
            </a:r>
            <a:r>
              <a:rPr lang="en-US" sz="2400" b="1" dirty="0">
                <a:solidFill>
                  <a:srgbClr val="FF2D55"/>
                </a:solidFill>
                <a:latin typeface="Malgun Gothic"/>
              </a:rPr>
              <a:t>$11K</a:t>
            </a:r>
            <a:endParaRPr sz="2400" b="1" dirty="0">
              <a:solidFill>
                <a:srgbClr val="FF2D55"/>
              </a:solidFill>
              <a:latin typeface="Malgun Gothi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323018" y="5351711"/>
            <a:ext cx="5027942" cy="952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23018" y="5732616"/>
            <a:ext cx="1904523" cy="2285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algun Gothic"/>
              </a:rPr>
              <a:t>Total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23675" y="5637390"/>
            <a:ext cx="1327286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2400" b="1" dirty="0">
                <a:solidFill>
                  <a:srgbClr val="FF2D55"/>
                </a:solidFill>
                <a:latin typeface="Malgun Gothic"/>
              </a:rPr>
              <a:t>▼ </a:t>
            </a:r>
            <a:r>
              <a:rPr lang="en-US" sz="2400" b="1" dirty="0">
                <a:solidFill>
                  <a:srgbClr val="FF2D55"/>
                </a:solidFill>
                <a:latin typeface="Malgun Gothic"/>
              </a:rPr>
              <a:t>$174K</a:t>
            </a:r>
            <a:endParaRPr sz="2400" b="1" dirty="0">
              <a:solidFill>
                <a:srgbClr val="FF2D5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628" y="133316"/>
            <a:ext cx="3809047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75" b="1">
                <a:solidFill>
                  <a:srgbClr val="E8FF47"/>
                </a:solidFill>
                <a:latin typeface="Malgun Gothic"/>
              </a:rPr>
              <a:t>FINANCE  ·  2026.02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628" y="342814"/>
            <a:ext cx="6665833" cy="28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50" b="1">
                <a:solidFill>
                  <a:srgbClr val="E8FF47"/>
                </a:solidFill>
                <a:latin typeface="Malgun Gothic"/>
              </a:rPr>
              <a:t>Revenue Goal Achievement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628" y="685628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628" y="6513471"/>
            <a:ext cx="285678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00" b="0">
                <a:solidFill>
                  <a:srgbClr val="444444"/>
                </a:solidFill>
                <a:latin typeface="Malgun Gothic"/>
              </a:rPr>
              <a:t>EO STUDIO TOWNHALL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6287" y="6513471"/>
            <a:ext cx="85703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00" b="0">
                <a:solidFill>
                  <a:srgbClr val="444444"/>
                </a:solidFill>
                <a:latin typeface="Malgun Gothic"/>
              </a:rPr>
              <a:t>03 /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780854"/>
            <a:ext cx="6665833" cy="1904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algun Gothic"/>
              </a:rPr>
              <a:t>Annual Goal Achievement (Confirmed Deals)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952261"/>
            <a:ext cx="4761309" cy="76180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algun Gothic"/>
              </a:rPr>
              <a:t>17.8%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628" y="1742639"/>
            <a:ext cx="3690113" cy="15004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75" b="0" dirty="0">
                <a:solidFill>
                  <a:srgbClr val="666666"/>
                </a:solidFill>
                <a:latin typeface="Malgun Gothic"/>
              </a:rPr>
              <a:t>Annual Target: </a:t>
            </a:r>
            <a:r>
              <a:rPr lang="en-US" sz="975" b="0" dirty="0">
                <a:solidFill>
                  <a:srgbClr val="666666"/>
                </a:solidFill>
                <a:latin typeface="Malgun Gothic"/>
              </a:rPr>
              <a:t>$10M </a:t>
            </a:r>
            <a:r>
              <a:rPr sz="975" b="0" dirty="0">
                <a:solidFill>
                  <a:srgbClr val="666666"/>
                </a:solidFill>
                <a:latin typeface="Malgun Gothic"/>
              </a:rPr>
              <a:t>|  Confirmed: </a:t>
            </a:r>
            <a:r>
              <a:rPr lang="en-US" sz="975" b="0" dirty="0">
                <a:solidFill>
                  <a:srgbClr val="666666"/>
                </a:solidFill>
                <a:latin typeface="Malgun Gothic"/>
              </a:rPr>
              <a:t>$1.75M</a:t>
            </a:r>
            <a:r>
              <a:rPr sz="975" b="0" dirty="0">
                <a:solidFill>
                  <a:srgbClr val="666666"/>
                </a:solidFill>
                <a:latin typeface="Malgun Gothic"/>
              </a:rPr>
              <a:t> |  Remaining: </a:t>
            </a:r>
            <a:r>
              <a:rPr lang="en-US" sz="975" dirty="0">
                <a:solidFill>
                  <a:srgbClr val="666666"/>
                </a:solidFill>
                <a:latin typeface="Malgun Gothic"/>
              </a:rPr>
              <a:t>$8.25M</a:t>
            </a:r>
            <a:endParaRPr sz="975" b="0" dirty="0">
              <a:solidFill>
                <a:srgbClr val="666666"/>
              </a:solidFill>
              <a:latin typeface="Malgun Gothic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628" y="1971182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628" y="1999749"/>
            <a:ext cx="351384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945" y="2133066"/>
            <a:ext cx="732573" cy="1615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altLang="ko-KR" sz="1050" b="1" dirty="0">
                <a:solidFill>
                  <a:srgbClr val="E8FF47"/>
                </a:solidFill>
                <a:latin typeface="Malgun Gothic"/>
              </a:rPr>
              <a:t>KR Content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945" y="2380654"/>
            <a:ext cx="324721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945" y="2494926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945" y="2666333"/>
            <a:ext cx="1426673" cy="57708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750" b="1" dirty="0">
                <a:solidFill>
                  <a:srgbClr val="FFFFFF"/>
                </a:solidFill>
                <a:latin typeface="Malgun Gothic"/>
              </a:rPr>
              <a:t>$1.8M</a:t>
            </a:r>
            <a:endParaRPr sz="37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8945" y="3371007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CONFIRMED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945" y="3542414"/>
            <a:ext cx="1197444" cy="484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150" b="1" dirty="0">
                <a:solidFill>
                  <a:srgbClr val="FFFFFF"/>
                </a:solidFill>
                <a:latin typeface="Malgun Gothic"/>
              </a:rPr>
              <a:t>$275K</a:t>
            </a:r>
            <a:endParaRPr sz="31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18945" y="4170907"/>
            <a:ext cx="3247212" cy="9522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8945" y="4170907"/>
            <a:ext cx="818945" cy="95226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945" y="4342314"/>
            <a:ext cx="3247212" cy="6094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750" b="1">
                <a:solidFill>
                  <a:srgbClr val="E8FF47"/>
                </a:solidFill>
                <a:latin typeface="Malgun Gothic"/>
              </a:rPr>
              <a:t>25.4%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945" y="5027942"/>
            <a:ext cx="809517" cy="1615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1" dirty="0">
                <a:solidFill>
                  <a:srgbClr val="444444"/>
                </a:solidFill>
                <a:latin typeface="Malgun Gothic"/>
              </a:rPr>
              <a:t>Gap  -</a:t>
            </a:r>
            <a:r>
              <a:rPr lang="en-US" sz="1050" b="1" dirty="0">
                <a:solidFill>
                  <a:srgbClr val="444444"/>
                </a:solidFill>
                <a:latin typeface="Malgun Gothic"/>
              </a:rPr>
              <a:t>$808K</a:t>
            </a:r>
            <a:endParaRPr sz="1050" b="1" dirty="0">
              <a:solidFill>
                <a:srgbClr val="444444"/>
              </a:solidFill>
              <a:latin typeface="Malgun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8945" y="5275530"/>
            <a:ext cx="2053447" cy="1615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0" dirty="0">
                <a:solidFill>
                  <a:srgbClr val="FF0000"/>
                </a:solidFill>
                <a:latin typeface="Malgun Gothic"/>
              </a:rPr>
              <a:t>* Includes </a:t>
            </a:r>
            <a:r>
              <a:rPr lang="en-US" sz="1050" b="0" dirty="0">
                <a:solidFill>
                  <a:srgbClr val="FF0000"/>
                </a:solidFill>
                <a:latin typeface="Malgun Gothic"/>
              </a:rPr>
              <a:t>$250K </a:t>
            </a:r>
            <a:r>
              <a:rPr sz="1050" b="0" dirty="0">
                <a:solidFill>
                  <a:srgbClr val="FF0000"/>
                </a:solidFill>
                <a:latin typeface="Malgun Gothic"/>
              </a:rPr>
              <a:t>KTO Production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791" y="1999749"/>
            <a:ext cx="351384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66108" y="2133066"/>
            <a:ext cx="623569" cy="1615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altLang="ko-KR" sz="1050" b="1" dirty="0">
                <a:solidFill>
                  <a:srgbClr val="E8FF47"/>
                </a:solidFill>
                <a:latin typeface="Malgun Gothic"/>
              </a:rPr>
              <a:t>KR Planet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6108" y="2380654"/>
            <a:ext cx="324721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66108" y="2494926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108" y="2666333"/>
            <a:ext cx="1705595" cy="57708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750" b="1" dirty="0">
                <a:solidFill>
                  <a:srgbClr val="FFFFFF"/>
                </a:solidFill>
                <a:latin typeface="Malgun Gothic"/>
              </a:rPr>
              <a:t>$1.83M</a:t>
            </a:r>
            <a:endParaRPr sz="37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66108" y="3371007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CONFIRMED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6108" y="3542414"/>
            <a:ext cx="1197444" cy="484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150" b="1" dirty="0">
                <a:solidFill>
                  <a:srgbClr val="FFFFFF"/>
                </a:solidFill>
                <a:latin typeface="Malgun Gothic"/>
              </a:rPr>
              <a:t>$708K</a:t>
            </a:r>
            <a:endParaRPr sz="31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66108" y="4170907"/>
            <a:ext cx="3247212" cy="9522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66108" y="4170907"/>
            <a:ext cx="1256985" cy="95226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66108" y="4342314"/>
            <a:ext cx="3247212" cy="6094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750" b="1">
                <a:solidFill>
                  <a:srgbClr val="E8FF47"/>
                </a:solidFill>
                <a:latin typeface="Malgun Gothic"/>
              </a:rPr>
              <a:t>38.8%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6108" y="5027942"/>
            <a:ext cx="3247212" cy="209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44444"/>
                </a:solidFill>
                <a:latin typeface="Malgun Gothic"/>
              </a:rPr>
              <a:t>Gap  -₩1.35B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9954" y="1999749"/>
            <a:ext cx="3513846" cy="434231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13271" y="2133066"/>
            <a:ext cx="3247212" cy="209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1" dirty="0">
                <a:solidFill>
                  <a:srgbClr val="E8FF47"/>
                </a:solidFill>
                <a:latin typeface="Malgun Gothic"/>
              </a:rPr>
              <a:t>GLOBAL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3271" y="2380654"/>
            <a:ext cx="3247212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13271" y="2494926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3271" y="2666333"/>
            <a:ext cx="1705595" cy="57708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750" b="1" dirty="0">
                <a:solidFill>
                  <a:srgbClr val="FFFFFF"/>
                </a:solidFill>
                <a:latin typeface="Malgun Gothic"/>
              </a:rPr>
              <a:t>$7.08M</a:t>
            </a:r>
            <a:endParaRPr sz="37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113271" y="3371007"/>
            <a:ext cx="3247212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25" b="1">
                <a:solidFill>
                  <a:srgbClr val="444444"/>
                </a:solidFill>
                <a:latin typeface="Malgun Gothic"/>
              </a:rPr>
              <a:t>CONFIRMED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3271" y="3542414"/>
            <a:ext cx="1197444" cy="484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3150" b="1" dirty="0">
                <a:solidFill>
                  <a:srgbClr val="FFFFFF"/>
                </a:solidFill>
                <a:latin typeface="Malgun Gothic"/>
              </a:rPr>
              <a:t>$800K</a:t>
            </a:r>
            <a:endParaRPr sz="315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113271" y="4170907"/>
            <a:ext cx="3247212" cy="9522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13271" y="4170907"/>
            <a:ext cx="361859" cy="95226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13271" y="4342314"/>
            <a:ext cx="3247212" cy="6094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750" b="1">
                <a:solidFill>
                  <a:srgbClr val="E8FF47"/>
                </a:solidFill>
                <a:latin typeface="Malgun Gothic"/>
              </a:rPr>
              <a:t>11.2%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3271" y="5027942"/>
            <a:ext cx="3247212" cy="209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44444"/>
                </a:solidFill>
                <a:latin typeface="Malgun Gothic"/>
              </a:rPr>
              <a:t>Gap  -₩7.5B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628" y="133316"/>
            <a:ext cx="3809047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75" b="1">
                <a:solidFill>
                  <a:srgbClr val="E8FF47"/>
                </a:solidFill>
                <a:latin typeface="Malgun Gothic"/>
              </a:rPr>
              <a:t>FINANCE  ·  2026.02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628" y="342814"/>
            <a:ext cx="6665833" cy="28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50" b="1">
                <a:solidFill>
                  <a:srgbClr val="E8FF47"/>
                </a:solidFill>
                <a:latin typeface="Malgun Gothic"/>
              </a:rPr>
              <a:t>AI Native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628" y="685628"/>
            <a:ext cx="10817694" cy="952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628" y="6513471"/>
            <a:ext cx="285678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00" b="0">
                <a:solidFill>
                  <a:srgbClr val="444444"/>
                </a:solidFill>
                <a:latin typeface="Malgun Gothic"/>
              </a:rPr>
              <a:t>EO STUDIO TOWNHALL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6287" y="6513471"/>
            <a:ext cx="857035" cy="1714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00" b="0">
                <a:solidFill>
                  <a:srgbClr val="444444"/>
                </a:solidFill>
                <a:latin typeface="Malgun Gothic"/>
              </a:rPr>
              <a:t>04 /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533" y="723719"/>
            <a:ext cx="9522618" cy="12950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650" b="1" dirty="0">
                <a:solidFill>
                  <a:srgbClr val="FFFFFF"/>
                </a:solidFill>
                <a:latin typeface="Malgun Gothic"/>
              </a:rPr>
              <a:t>The Era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533" y="1980704"/>
            <a:ext cx="9522618" cy="12950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650" b="1" dirty="0">
                <a:solidFill>
                  <a:srgbClr val="E8FF47"/>
                </a:solidFill>
                <a:latin typeface="Malgun Gothic"/>
              </a:rPr>
              <a:t>10x Leverage.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533" y="3447187"/>
            <a:ext cx="9141713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500" b="1" dirty="0">
                <a:solidFill>
                  <a:srgbClr val="666666"/>
                </a:solidFill>
                <a:latin typeface="Malgun Gothic"/>
              </a:rPr>
              <a:t>The only thing AI will replace is the person who refuses to use it.</a:t>
            </a:r>
            <a:endParaRPr sz="1500" b="1" dirty="0">
              <a:solidFill>
                <a:srgbClr val="666666"/>
              </a:solidFill>
              <a:latin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6533" y="3866183"/>
            <a:ext cx="9141713" cy="438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algun Gothic"/>
              </a:rPr>
              <a:t>Build your own 24/7 AI team to clone your workflow. That is AI 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6533" y="4494676"/>
            <a:ext cx="8379904" cy="571357"/>
          </a:xfrm>
          <a:prstGeom prst="rect">
            <a:avLst/>
          </a:prstGeom>
          <a:noFill/>
          <a:ln w="12700">
            <a:solidFill>
              <a:srgbClr val="E8F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257" y="4647037"/>
            <a:ext cx="5819670" cy="2308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 dirty="0">
                <a:solidFill>
                  <a:srgbClr val="E8FF47"/>
                </a:solidFill>
                <a:latin typeface="Malgun Gothic"/>
              </a:rPr>
              <a:t>→   Install Claude Code &amp; Build Your AI </a:t>
            </a:r>
            <a:r>
              <a:rPr lang="en-US" sz="1500" b="1" dirty="0">
                <a:solidFill>
                  <a:srgbClr val="E8FF47"/>
                </a:solidFill>
                <a:latin typeface="Malgun Gothic"/>
              </a:rPr>
              <a:t>agent </a:t>
            </a:r>
            <a:r>
              <a:rPr sz="1500" b="1" dirty="0">
                <a:solidFill>
                  <a:srgbClr val="E8FF47"/>
                </a:solidFill>
                <a:latin typeface="Malgun Gothic"/>
              </a:rPr>
              <a:t>Team</a:t>
            </a:r>
            <a:r>
              <a:rPr lang="en-US" sz="1500" b="1" dirty="0">
                <a:solidFill>
                  <a:srgbClr val="E8FF47"/>
                </a:solidFill>
                <a:latin typeface="Malgun Gothic"/>
              </a:rPr>
              <a:t> Right now</a:t>
            </a:r>
            <a:endParaRPr sz="1500" b="1" dirty="0">
              <a:solidFill>
                <a:srgbClr val="E8FF47"/>
              </a:solidFill>
              <a:latin typeface="Malgun Gothic"/>
            </a:endParaRPr>
          </a:p>
        </p:txBody>
      </p:sp>
      <p:pic>
        <p:nvPicPr>
          <p:cNvPr id="16" name="그림 15" descr="픽셀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1246A4F-D16D-5F70-27FE-C8721675F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61" y="2991817"/>
            <a:ext cx="1821699" cy="13124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312</Words>
  <Application>Microsoft Office PowerPoint</Application>
  <PresentationFormat>사용자 지정</PresentationFormat>
  <Paragraphs>101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서현 안</cp:lastModifiedBy>
  <cp:revision>6</cp:revision>
  <dcterms:created xsi:type="dcterms:W3CDTF">2013-01-27T09:14:16Z</dcterms:created>
  <dcterms:modified xsi:type="dcterms:W3CDTF">2026-02-26T23:50:38Z</dcterms:modified>
  <cp:category/>
</cp:coreProperties>
</file>