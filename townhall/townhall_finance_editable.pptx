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628" y="133316"/>
            <a:ext cx="3809047" cy="1714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75" b="1">
                <a:solidFill>
                  <a:srgbClr val="E8FF47"/>
                </a:solidFill>
                <a:latin typeface="Malgun Gothic"/>
              </a:rPr>
              <a:t>FINANCE  ·  2026.02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628" y="342814"/>
            <a:ext cx="6665833" cy="2856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50" b="1">
                <a:solidFill>
                  <a:srgbClr val="E8FF47"/>
                </a:solidFill>
                <a:latin typeface="Malgun Gothic"/>
              </a:rPr>
              <a:t>Cash Position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628" y="685628"/>
            <a:ext cx="10817694" cy="9522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628" y="6513471"/>
            <a:ext cx="2856785" cy="1714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00" b="0">
                <a:solidFill>
                  <a:srgbClr val="444444"/>
                </a:solidFill>
                <a:latin typeface="Malgun Gothic"/>
              </a:rPr>
              <a:t>EO STUDIO TOWNHALL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46287" y="6513471"/>
            <a:ext cx="857035" cy="1714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600" b="0">
                <a:solidFill>
                  <a:srgbClr val="444444"/>
                </a:solidFill>
                <a:latin typeface="Malgun Gothic"/>
              </a:rPr>
              <a:t>01 /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628" y="780854"/>
            <a:ext cx="5713571" cy="190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Malgun Gothic"/>
              </a:rPr>
              <a:t>Consolidated Cash Balance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628" y="952261"/>
            <a:ext cx="4761309" cy="7618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Malgun Gothic"/>
              </a:rPr>
              <a:t>₩209M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628" y="1742639"/>
            <a:ext cx="5332666" cy="22854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75" b="1">
                <a:solidFill>
                  <a:srgbClr val="FF2D55"/>
                </a:solidFill>
                <a:latin typeface="Malgun Gothic"/>
              </a:rPr>
              <a:t>▼ ₩154M vs. Last Month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628" y="1971182"/>
            <a:ext cx="10817694" cy="9522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628" y="1999749"/>
            <a:ext cx="5332666" cy="4342314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945" y="2133066"/>
            <a:ext cx="5066033" cy="1714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50" b="1">
                <a:solidFill>
                  <a:srgbClr val="444444"/>
                </a:solidFill>
                <a:latin typeface="Malgun Gothic"/>
              </a:rPr>
              <a:t>BY ENTITY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8945" y="2342564"/>
            <a:ext cx="5066033" cy="9522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7990" y="2475880"/>
            <a:ext cx="5027942" cy="22854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666666"/>
                </a:solidFill>
                <a:latin typeface="Malgun Gothic"/>
              </a:rPr>
              <a:t>Korea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7990" y="2742514"/>
            <a:ext cx="5027942" cy="5142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algun Gothic"/>
              </a:rPr>
              <a:t>₩95M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7990" y="3694776"/>
            <a:ext cx="5027942" cy="9522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990" y="3790002"/>
            <a:ext cx="5027942" cy="22854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666666"/>
                </a:solidFill>
                <a:latin typeface="Malgun Gothic"/>
              </a:rPr>
              <a:t>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990" y="4056635"/>
            <a:ext cx="5027942" cy="5142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algun Gothic"/>
              </a:rPr>
              <a:t>$71K  ·  ₩103M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7990" y="5008897"/>
            <a:ext cx="5027942" cy="9522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7990" y="5104123"/>
            <a:ext cx="5027942" cy="22854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666666"/>
                </a:solidFill>
                <a:latin typeface="Malgun Gothic"/>
              </a:rPr>
              <a:t>Vietnam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7990" y="5370756"/>
            <a:ext cx="5027942" cy="5142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algun Gothic"/>
              </a:rPr>
              <a:t>₩12M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0656" y="1999749"/>
            <a:ext cx="5332666" cy="4342314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3973" y="2133066"/>
            <a:ext cx="5066033" cy="1714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50" b="1">
                <a:solidFill>
                  <a:srgbClr val="444444"/>
                </a:solidFill>
                <a:latin typeface="Malgun Gothic"/>
              </a:rPr>
              <a:t>NET CHANGE  JAN → FEB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3973" y="2342564"/>
            <a:ext cx="5066033" cy="9522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23018" y="2533016"/>
            <a:ext cx="2285428" cy="22854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666666"/>
                </a:solidFill>
                <a:latin typeface="Malgun Gothic"/>
              </a:rPr>
              <a:t>Korea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27442" y="2475880"/>
            <a:ext cx="2323518" cy="4189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2400" b="1">
                <a:solidFill>
                  <a:srgbClr val="FF2D55"/>
                </a:solidFill>
                <a:latin typeface="Malgun Gothic"/>
              </a:rPr>
              <a:t>▼ ₩47M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23018" y="3694776"/>
            <a:ext cx="5027942" cy="9522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23018" y="3847137"/>
            <a:ext cx="2285428" cy="22854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666666"/>
                </a:solidFill>
                <a:latin typeface="Malgun Gothic"/>
              </a:rPr>
              <a:t>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27442" y="3790002"/>
            <a:ext cx="2323518" cy="4189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2400" b="1">
                <a:solidFill>
                  <a:srgbClr val="FF2D55"/>
                </a:solidFill>
                <a:latin typeface="Malgun Gothic"/>
              </a:rPr>
              <a:t>▼ ₩94M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23018" y="5008897"/>
            <a:ext cx="5027942" cy="9522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23018" y="5161259"/>
            <a:ext cx="2285428" cy="22854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666666"/>
                </a:solidFill>
                <a:latin typeface="Malgun Gothic"/>
              </a:rPr>
              <a:t>Vietnam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27442" y="5104123"/>
            <a:ext cx="2323518" cy="4189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2400" b="1">
                <a:solidFill>
                  <a:srgbClr val="FF2D55"/>
                </a:solidFill>
                <a:latin typeface="Malgun Gothic"/>
              </a:rPr>
              <a:t>▼ ₩13M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23018" y="6323018"/>
            <a:ext cx="5027942" cy="9522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23018" y="6418245"/>
            <a:ext cx="1904523" cy="2856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algun Gothic"/>
              </a:rPr>
              <a:t>Total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17894" y="6380154"/>
            <a:ext cx="2133066" cy="3618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2100" b="1">
                <a:solidFill>
                  <a:srgbClr val="FF2D55"/>
                </a:solidFill>
                <a:latin typeface="Malgun Gothic"/>
              </a:rPr>
              <a:t>▼ ₩154M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628" y="133316"/>
            <a:ext cx="3809047" cy="1714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75" b="1">
                <a:solidFill>
                  <a:srgbClr val="E8FF47"/>
                </a:solidFill>
                <a:latin typeface="Malgun Gothic"/>
              </a:rPr>
              <a:t>FINANCE  ·  2026.02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628" y="342814"/>
            <a:ext cx="6665833" cy="2856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50" b="1">
                <a:solidFill>
                  <a:srgbClr val="E8FF47"/>
                </a:solidFill>
                <a:latin typeface="Malgun Gothic"/>
              </a:rPr>
              <a:t>Revenue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628" y="685628"/>
            <a:ext cx="10817694" cy="9522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628" y="6513471"/>
            <a:ext cx="2856785" cy="1714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00" b="0">
                <a:solidFill>
                  <a:srgbClr val="444444"/>
                </a:solidFill>
                <a:latin typeface="Malgun Gothic"/>
              </a:rPr>
              <a:t>EO STUDIO TOWNHALL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46287" y="6513471"/>
            <a:ext cx="857035" cy="1714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600" b="0">
                <a:solidFill>
                  <a:srgbClr val="444444"/>
                </a:solidFill>
                <a:latin typeface="Malgun Gothic"/>
              </a:rPr>
              <a:t>02 /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628" y="780854"/>
            <a:ext cx="5713571" cy="190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Malgun Gothic"/>
              </a:rPr>
              <a:t>Jan–Feb Cumulative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628" y="952261"/>
            <a:ext cx="4761309" cy="7618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Malgun Gothic"/>
              </a:rPr>
              <a:t>₩432M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628" y="1742639"/>
            <a:ext cx="7618095" cy="2094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>
                <a:solidFill>
                  <a:srgbClr val="666666"/>
                </a:solidFill>
                <a:latin typeface="Malgun Gothic"/>
              </a:rPr>
              <a:t>Global 94% Contribution  ·  YoY -8% (Same BU Base)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628" y="1971182"/>
            <a:ext cx="10817694" cy="9522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628" y="1999749"/>
            <a:ext cx="5332666" cy="4342314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945" y="2133066"/>
            <a:ext cx="5066033" cy="1714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50" b="1">
                <a:solidFill>
                  <a:srgbClr val="444444"/>
                </a:solidFill>
                <a:latin typeface="Malgun Gothic"/>
              </a:rPr>
              <a:t>MONTHLY REVENUE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8945" y="2342564"/>
            <a:ext cx="5066033" cy="9522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7990" y="2437790"/>
            <a:ext cx="1428392" cy="1714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>
                <a:solidFill>
                  <a:srgbClr val="444444"/>
                </a:solidFill>
                <a:latin typeface="Malgun Gothic"/>
              </a:rPr>
              <a:t>BU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80654" y="2437790"/>
            <a:ext cx="952261" cy="1714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25" b="1">
                <a:solidFill>
                  <a:srgbClr val="444444"/>
                </a:solidFill>
                <a:latin typeface="Malgun Gothic"/>
              </a:rPr>
              <a:t>Jan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4323" y="2437790"/>
            <a:ext cx="952261" cy="1714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25" b="1">
                <a:solidFill>
                  <a:srgbClr val="444444"/>
                </a:solidFill>
                <a:latin typeface="Malgun Gothic"/>
              </a:rPr>
              <a:t>Feb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7992" y="2437790"/>
            <a:ext cx="1085578" cy="1714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25" b="1">
                <a:solidFill>
                  <a:srgbClr val="444444"/>
                </a:solidFill>
                <a:latin typeface="Malgun Gothic"/>
              </a:rPr>
              <a:t>Total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7990" y="2666333"/>
            <a:ext cx="5027942" cy="9522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7990" y="2780604"/>
            <a:ext cx="1523619" cy="247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algun Gothic"/>
              </a:rPr>
              <a:t>KR Content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80654" y="2780604"/>
            <a:ext cx="952261" cy="247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200" b="1">
                <a:solidFill>
                  <a:srgbClr val="666666"/>
                </a:solidFill>
                <a:latin typeface="Malgun Gothic"/>
              </a:rPr>
              <a:t>₩1.6M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04323" y="2780604"/>
            <a:ext cx="952261" cy="247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Malgun Gothic"/>
              </a:rPr>
              <a:t>₩13.1M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27992" y="2780604"/>
            <a:ext cx="1085578" cy="247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200" b="1">
                <a:solidFill>
                  <a:srgbClr val="E8FF47"/>
                </a:solidFill>
                <a:latin typeface="Malgun Gothic"/>
              </a:rPr>
              <a:t>₩14.7M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7990" y="3628117"/>
            <a:ext cx="5027942" cy="9522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7990" y="3685253"/>
            <a:ext cx="1523619" cy="247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algun Gothic"/>
              </a:rPr>
              <a:t>KR Planet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80654" y="3685253"/>
            <a:ext cx="952261" cy="247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200" b="1">
                <a:solidFill>
                  <a:srgbClr val="666666"/>
                </a:solidFill>
                <a:latin typeface="Malgun Gothic"/>
              </a:rPr>
              <a:t>₩6.5M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04323" y="3685253"/>
            <a:ext cx="952261" cy="247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Malgun Gothic"/>
              </a:rPr>
              <a:t>₩5.0M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27992" y="3685253"/>
            <a:ext cx="1085578" cy="247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200" b="1">
                <a:solidFill>
                  <a:srgbClr val="E8FF47"/>
                </a:solidFill>
                <a:latin typeface="Malgun Gothic"/>
              </a:rPr>
              <a:t>₩11.5M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7990" y="4532766"/>
            <a:ext cx="5027942" cy="9522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7990" y="4589902"/>
            <a:ext cx="1523619" cy="247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algun Gothic"/>
              </a:rPr>
              <a:t>GL Global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80654" y="4589902"/>
            <a:ext cx="952261" cy="247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200" b="1">
                <a:solidFill>
                  <a:srgbClr val="666666"/>
                </a:solidFill>
                <a:latin typeface="Malgun Gothic"/>
              </a:rPr>
              <a:t>₩320.7M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4323" y="4589902"/>
            <a:ext cx="952261" cy="247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Malgun Gothic"/>
              </a:rPr>
              <a:t>₩85.2M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27992" y="4589902"/>
            <a:ext cx="1085578" cy="247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200" b="1">
                <a:solidFill>
                  <a:srgbClr val="E8FF47"/>
                </a:solidFill>
                <a:latin typeface="Malgun Gothic"/>
              </a:rPr>
              <a:t>₩405.9M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37990" y="5437415"/>
            <a:ext cx="5027942" cy="9522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7990" y="5513596"/>
            <a:ext cx="1523619" cy="266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Malgun Gothic"/>
              </a:rPr>
              <a:t>Total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80654" y="5513596"/>
            <a:ext cx="952261" cy="266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50" b="1">
                <a:solidFill>
                  <a:srgbClr val="FFFFFF"/>
                </a:solidFill>
                <a:latin typeface="Malgun Gothic"/>
              </a:rPr>
              <a:t>₩328.9M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04323" y="5513596"/>
            <a:ext cx="952261" cy="266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50" b="1">
                <a:solidFill>
                  <a:srgbClr val="FFFFFF"/>
                </a:solidFill>
                <a:latin typeface="Malgun Gothic"/>
              </a:rPr>
              <a:t>₩103.3M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27992" y="5513596"/>
            <a:ext cx="1085578" cy="266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50" b="1">
                <a:solidFill>
                  <a:srgbClr val="E8FF47"/>
                </a:solidFill>
                <a:latin typeface="Malgun Gothic"/>
              </a:rPr>
              <a:t>₩432.2M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70656" y="1999749"/>
            <a:ext cx="5332666" cy="4342314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03973" y="2133066"/>
            <a:ext cx="5066033" cy="1714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50" b="1">
                <a:solidFill>
                  <a:srgbClr val="444444"/>
                </a:solidFill>
                <a:latin typeface="Malgun Gothic"/>
              </a:rPr>
              <a:t>YOY  2025 vs 2026 (Same BU)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3973" y="2342564"/>
            <a:ext cx="5066033" cy="9522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23018" y="2494926"/>
            <a:ext cx="2475880" cy="22854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algun Gothic"/>
              </a:rPr>
              <a:t>GL Global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23018" y="2742514"/>
            <a:ext cx="2475880" cy="190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  <a:latin typeface="Malgun Gothic"/>
              </a:rPr>
              <a:t>2025:  ₩319M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17894" y="2418745"/>
            <a:ext cx="2133066" cy="55231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3300" b="1">
                <a:solidFill>
                  <a:srgbClr val="0AFF6C"/>
                </a:solidFill>
                <a:latin typeface="Malgun Gothic"/>
              </a:rPr>
              <a:t>+27%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23018" y="3371007"/>
            <a:ext cx="5027942" cy="9522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23018" y="3485278"/>
            <a:ext cx="2475880" cy="22854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algun Gothic"/>
              </a:rPr>
              <a:t>KR Content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23018" y="3732866"/>
            <a:ext cx="2475880" cy="190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  <a:latin typeface="Malgun Gothic"/>
              </a:rPr>
              <a:t>2025:  ₩63M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17894" y="3409097"/>
            <a:ext cx="2133066" cy="55231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3300" b="1">
                <a:solidFill>
                  <a:srgbClr val="FF2D55"/>
                </a:solidFill>
                <a:latin typeface="Malgun Gothic"/>
              </a:rPr>
              <a:t>-77%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23018" y="4361359"/>
            <a:ext cx="5027942" cy="9522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23018" y="4475630"/>
            <a:ext cx="2475880" cy="22854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algun Gothic"/>
              </a:rPr>
              <a:t>KR Planet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23018" y="4723218"/>
            <a:ext cx="2475880" cy="190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  <a:latin typeface="Malgun Gothic"/>
              </a:rPr>
              <a:t>2025:  ₩87M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17894" y="4399449"/>
            <a:ext cx="2133066" cy="55231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3300" b="1">
                <a:solidFill>
                  <a:srgbClr val="FF2D55"/>
                </a:solidFill>
                <a:latin typeface="Malgun Gothic"/>
              </a:rPr>
              <a:t>-87%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23018" y="5351711"/>
            <a:ext cx="5027942" cy="9522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23018" y="5446937"/>
            <a:ext cx="2856785" cy="2856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algun Gothic"/>
              </a:rPr>
              <a:t>Overall (Same BU)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17894" y="5370756"/>
            <a:ext cx="2133066" cy="5713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3450" b="1">
                <a:solidFill>
                  <a:srgbClr val="FF2D55"/>
                </a:solidFill>
                <a:latin typeface="Malgun Gothic"/>
              </a:rPr>
              <a:t>-8%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628" y="133316"/>
            <a:ext cx="3809047" cy="1714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75" b="1">
                <a:solidFill>
                  <a:srgbClr val="E8FF47"/>
                </a:solidFill>
                <a:latin typeface="Malgun Gothic"/>
              </a:rPr>
              <a:t>FINANCE  ·  2026.02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628" y="342814"/>
            <a:ext cx="6665833" cy="2856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50" b="1">
                <a:solidFill>
                  <a:srgbClr val="E8FF47"/>
                </a:solidFill>
                <a:latin typeface="Malgun Gothic"/>
              </a:rPr>
              <a:t>BU Goal Achievement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628" y="685628"/>
            <a:ext cx="10817694" cy="9522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628" y="6513471"/>
            <a:ext cx="2856785" cy="1714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00" b="0">
                <a:solidFill>
                  <a:srgbClr val="444444"/>
                </a:solidFill>
                <a:latin typeface="Malgun Gothic"/>
              </a:rPr>
              <a:t>EO STUDIO TOWNHALL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46287" y="6513471"/>
            <a:ext cx="857035" cy="1714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600" b="0">
                <a:solidFill>
                  <a:srgbClr val="444444"/>
                </a:solidFill>
                <a:latin typeface="Malgun Gothic"/>
              </a:rPr>
              <a:t>03 /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628" y="780854"/>
            <a:ext cx="6665833" cy="190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Malgun Gothic"/>
              </a:rPr>
              <a:t>Annual Goal Achievement (Confirmed Deals)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628" y="952261"/>
            <a:ext cx="4761309" cy="7618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Malgun Gothic"/>
              </a:rPr>
              <a:t>17.8%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628" y="1742639"/>
            <a:ext cx="8570356" cy="2094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>
                <a:solidFill>
                  <a:srgbClr val="666666"/>
                </a:solidFill>
                <a:latin typeface="Malgun Gothic"/>
              </a:rPr>
              <a:t>Annual Target: ₩12B  |  Confirmed: ₩2.1B  |  Remaining: ₩9.9B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628" y="1971182"/>
            <a:ext cx="10817694" cy="9522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628" y="1999749"/>
            <a:ext cx="3513846" cy="4342314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945" y="2133066"/>
            <a:ext cx="3247212" cy="2094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1">
                <a:solidFill>
                  <a:srgbClr val="E8FF47"/>
                </a:solidFill>
                <a:latin typeface="Malgun Gothic"/>
              </a:rPr>
              <a:t>KR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8945" y="2380654"/>
            <a:ext cx="3247212" cy="9522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945" y="2494926"/>
            <a:ext cx="3247212" cy="1714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>
                <a:solidFill>
                  <a:srgbClr val="444444"/>
                </a:solidFill>
                <a:latin typeface="Malgun Gothic"/>
              </a:rPr>
              <a:t>TARGET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945" y="2666333"/>
            <a:ext cx="3247212" cy="60944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750" b="1">
                <a:solidFill>
                  <a:srgbClr val="FFFFFF"/>
                </a:solidFill>
                <a:latin typeface="Malgun Gothic"/>
              </a:rPr>
              <a:t>₩1.3B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945" y="3371007"/>
            <a:ext cx="3247212" cy="1714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>
                <a:solidFill>
                  <a:srgbClr val="444444"/>
                </a:solidFill>
                <a:latin typeface="Malgun Gothic"/>
              </a:rPr>
              <a:t>CONFIRMED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945" y="3542414"/>
            <a:ext cx="3247212" cy="5332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150" b="1">
                <a:solidFill>
                  <a:srgbClr val="FFFFFF"/>
                </a:solidFill>
                <a:latin typeface="Malgun Gothic"/>
              </a:rPr>
              <a:t>₩330M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8945" y="4170907"/>
            <a:ext cx="3247212" cy="95226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8945" y="4170907"/>
            <a:ext cx="818945" cy="95226"/>
          </a:xfrm>
          <a:prstGeom prst="rect">
            <a:avLst/>
          </a:prstGeom>
          <a:solidFill>
            <a:srgbClr val="E8F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945" y="4342314"/>
            <a:ext cx="3247212" cy="60944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750" b="1">
                <a:solidFill>
                  <a:srgbClr val="E8FF47"/>
                </a:solidFill>
                <a:latin typeface="Malgun Gothic"/>
              </a:rPr>
              <a:t>25.4%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945" y="5027942"/>
            <a:ext cx="3247212" cy="2094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1">
                <a:solidFill>
                  <a:srgbClr val="444444"/>
                </a:solidFill>
                <a:latin typeface="Malgun Gothic"/>
              </a:rPr>
              <a:t>Gap  -₩970M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32791" y="1999749"/>
            <a:ext cx="3513846" cy="4342314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66108" y="2133066"/>
            <a:ext cx="3247212" cy="2094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1">
                <a:solidFill>
                  <a:srgbClr val="E8FF47"/>
                </a:solidFill>
                <a:latin typeface="Malgun Gothic"/>
              </a:rPr>
              <a:t>PLANNING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66108" y="2380654"/>
            <a:ext cx="3247212" cy="9522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66108" y="2494926"/>
            <a:ext cx="3247212" cy="1714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>
                <a:solidFill>
                  <a:srgbClr val="444444"/>
                </a:solidFill>
                <a:latin typeface="Malgun Gothic"/>
              </a:rPr>
              <a:t>TARGET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66108" y="2666333"/>
            <a:ext cx="3247212" cy="60944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750" b="1">
                <a:solidFill>
                  <a:srgbClr val="FFFFFF"/>
                </a:solidFill>
                <a:latin typeface="Malgun Gothic"/>
              </a:rPr>
              <a:t>₩2.2B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66108" y="3371007"/>
            <a:ext cx="3247212" cy="1714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>
                <a:solidFill>
                  <a:srgbClr val="444444"/>
                </a:solidFill>
                <a:latin typeface="Malgun Gothic"/>
              </a:rPr>
              <a:t>CONFIRMED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66108" y="3542414"/>
            <a:ext cx="3247212" cy="5332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150" b="1">
                <a:solidFill>
                  <a:srgbClr val="FFFFFF"/>
                </a:solidFill>
                <a:latin typeface="Malgun Gothic"/>
              </a:rPr>
              <a:t>₩850M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66108" y="4170907"/>
            <a:ext cx="3247212" cy="95226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466108" y="4170907"/>
            <a:ext cx="1256985" cy="95226"/>
          </a:xfrm>
          <a:prstGeom prst="rect">
            <a:avLst/>
          </a:prstGeom>
          <a:solidFill>
            <a:srgbClr val="E8F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66108" y="4342314"/>
            <a:ext cx="3247212" cy="60944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750" b="1">
                <a:solidFill>
                  <a:srgbClr val="E8FF47"/>
                </a:solidFill>
                <a:latin typeface="Malgun Gothic"/>
              </a:rPr>
              <a:t>38.8%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66108" y="5027942"/>
            <a:ext cx="3247212" cy="2094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1">
                <a:solidFill>
                  <a:srgbClr val="444444"/>
                </a:solidFill>
                <a:latin typeface="Malgun Gothic"/>
              </a:rPr>
              <a:t>Gap  -₩1.35B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79954" y="1999749"/>
            <a:ext cx="3513846" cy="4342314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13271" y="2133066"/>
            <a:ext cx="3247212" cy="2094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1">
                <a:solidFill>
                  <a:srgbClr val="E8FF47"/>
                </a:solidFill>
                <a:latin typeface="Malgun Gothic"/>
              </a:rPr>
              <a:t>GLOBAL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13271" y="2380654"/>
            <a:ext cx="3247212" cy="9522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13271" y="2494926"/>
            <a:ext cx="3247212" cy="1714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>
                <a:solidFill>
                  <a:srgbClr val="444444"/>
                </a:solidFill>
                <a:latin typeface="Malgun Gothic"/>
              </a:rPr>
              <a:t>TARGET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13271" y="2666333"/>
            <a:ext cx="3247212" cy="60944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750" b="1">
                <a:solidFill>
                  <a:srgbClr val="FFFFFF"/>
                </a:solidFill>
                <a:latin typeface="Malgun Gothic"/>
              </a:rPr>
              <a:t>₩8.5B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13271" y="3371007"/>
            <a:ext cx="3247212" cy="1714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>
                <a:solidFill>
                  <a:srgbClr val="444444"/>
                </a:solidFill>
                <a:latin typeface="Malgun Gothic"/>
              </a:rPr>
              <a:t>CONFIRMED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13271" y="3542414"/>
            <a:ext cx="3247212" cy="5332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150" b="1">
                <a:solidFill>
                  <a:srgbClr val="FFFFFF"/>
                </a:solidFill>
                <a:latin typeface="Malgun Gothic"/>
              </a:rPr>
              <a:t>₩960M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13271" y="4170907"/>
            <a:ext cx="3247212" cy="95226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113271" y="4170907"/>
            <a:ext cx="361859" cy="95226"/>
          </a:xfrm>
          <a:prstGeom prst="rect">
            <a:avLst/>
          </a:prstGeom>
          <a:solidFill>
            <a:srgbClr val="E8F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13271" y="4342314"/>
            <a:ext cx="3247212" cy="60944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750" b="1">
                <a:solidFill>
                  <a:srgbClr val="E8FF47"/>
                </a:solidFill>
                <a:latin typeface="Malgun Gothic"/>
              </a:rPr>
              <a:t>11.2%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13271" y="5027942"/>
            <a:ext cx="3247212" cy="2094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1">
                <a:solidFill>
                  <a:srgbClr val="444444"/>
                </a:solidFill>
                <a:latin typeface="Malgun Gothic"/>
              </a:rPr>
              <a:t>Gap  -₩7.5B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628" y="133316"/>
            <a:ext cx="3809047" cy="1714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75" b="1">
                <a:solidFill>
                  <a:srgbClr val="E8FF47"/>
                </a:solidFill>
                <a:latin typeface="Malgun Gothic"/>
              </a:rPr>
              <a:t>FINANCE  ·  2026.02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628" y="342814"/>
            <a:ext cx="6665833" cy="2856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50" b="1">
                <a:solidFill>
                  <a:srgbClr val="E8FF47"/>
                </a:solidFill>
                <a:latin typeface="Malgun Gothic"/>
              </a:rPr>
              <a:t>AI Native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628" y="685628"/>
            <a:ext cx="10817694" cy="9522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628" y="6513471"/>
            <a:ext cx="2856785" cy="1714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00" b="0">
                <a:solidFill>
                  <a:srgbClr val="444444"/>
                </a:solidFill>
                <a:latin typeface="Malgun Gothic"/>
              </a:rPr>
              <a:t>EO STUDIO TOWNHALL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46287" y="6513471"/>
            <a:ext cx="857035" cy="1714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600" b="0">
                <a:solidFill>
                  <a:srgbClr val="444444"/>
                </a:solidFill>
                <a:latin typeface="Malgun Gothic"/>
              </a:rPr>
              <a:t>04 /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533" y="723719"/>
            <a:ext cx="9522618" cy="12950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650" b="1">
                <a:solidFill>
                  <a:srgbClr val="FFFFFF"/>
                </a:solidFill>
                <a:latin typeface="Malgun Gothic"/>
              </a:rPr>
              <a:t>The Tsunami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533" y="1980704"/>
            <a:ext cx="9522618" cy="12950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650" b="1">
                <a:solidFill>
                  <a:srgbClr val="E8FF47"/>
                </a:solidFill>
                <a:latin typeface="Malgun Gothic"/>
              </a:rPr>
              <a:t>is Coming.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533" y="3447187"/>
            <a:ext cx="9141713" cy="3428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666666"/>
                </a:solidFill>
                <a:latin typeface="Malgun Gothic"/>
              </a:rPr>
              <a:t>Running a 10-person AI team 24/7 while you sleep.  That is AI Native.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6533" y="3866183"/>
            <a:ext cx="9141713" cy="438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algun Gothic"/>
              </a:rPr>
              <a:t>If you don't find a way to use AI, someone else will find a way to replace you with 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66533" y="4494676"/>
            <a:ext cx="7237190" cy="571357"/>
          </a:xfrm>
          <a:prstGeom prst="rect">
            <a:avLst/>
          </a:prstGeom>
          <a:noFill/>
          <a:ln w="12700">
            <a:solidFill>
              <a:srgbClr val="E8F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257" y="4647037"/>
            <a:ext cx="6856285" cy="3237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E8FF47"/>
                </a:solidFill>
                <a:latin typeface="Malgun Gothic"/>
              </a:rPr>
              <a:t>→   Install Claude Code Right Now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