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AI 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556" y="2380440"/>
            <a:ext cx="536627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6600" b="1" dirty="0"/>
              <a:t>Context is King</a:t>
            </a:r>
            <a:endParaRPr sz="60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3611880"/>
            <a:ext cx="10515600" cy="73152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931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dirty="0" err="1">
                <a:solidFill>
                  <a:srgbClr val="1A1A1A"/>
                </a:solidFill>
                <a:latin typeface="Pretendard"/>
              </a:rPr>
              <a:t>채팅은</a:t>
            </a:r>
            <a:r>
              <a:rPr sz="3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3800" b="1" dirty="0" err="1">
                <a:solidFill>
                  <a:srgbClr val="1A1A1A"/>
                </a:solidFill>
                <a:latin typeface="Pretendard"/>
              </a:rPr>
              <a:t>이벤트다</a:t>
            </a:r>
            <a:r>
              <a:rPr sz="3800" b="1" dirty="0">
                <a:solidFill>
                  <a:srgbClr val="1A1A1A"/>
                </a:solidFill>
                <a:latin typeface="Pretendard"/>
              </a:rPr>
              <a:t>. </a:t>
            </a:r>
            <a:r>
              <a:rPr sz="3800" b="1" dirty="0" err="1">
                <a:solidFill>
                  <a:srgbClr val="1A1A1A"/>
                </a:solidFill>
                <a:latin typeface="Pretendard"/>
              </a:rPr>
              <a:t>컨텍스트는</a:t>
            </a:r>
            <a:r>
              <a:rPr sz="3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3800" b="1" dirty="0" err="1">
                <a:solidFill>
                  <a:srgbClr val="1A1A1A"/>
                </a:solidFill>
                <a:latin typeface="Pretendard"/>
              </a:rPr>
              <a:t>자산이다</a:t>
            </a:r>
            <a:r>
              <a:rPr sz="3800" b="1" dirty="0">
                <a:solidFill>
                  <a:srgbClr val="1A1A1A"/>
                </a:solidFill>
                <a:latin typeface="Pretendar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E99B-2E72-C508-CC1F-17179A5F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C3765D-A38F-3E06-4FD5-5D8327E2A9AA}"/>
              </a:ext>
            </a:extLst>
          </p:cNvPr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DATA</a:t>
            </a:r>
          </a:p>
        </p:txBody>
      </p:sp>
      <p:pic>
        <p:nvPicPr>
          <p:cNvPr id="30" name="그림 29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2FBBC5-0FA0-6EE8-2793-E9719E35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05" y="797601"/>
            <a:ext cx="9993120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AI가 혼자 일할 수 있는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D6472"/>
                </a:solidFill>
                <a:latin typeface="Pretendard"/>
              </a:rPr>
              <a:t>모델 순위보다 중요한 지표: 연속 업무 수행 가능 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2019 GPT-2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2203704"/>
            <a:ext cx="208483" cy="18288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0" y="213969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2초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87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2023 GPT-4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642616"/>
            <a:ext cx="694944" cy="18288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0" y="25786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3분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2666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2024 Claude 3.5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081528"/>
            <a:ext cx="1250899" cy="18288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0" y="3017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11분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65576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2024말 o1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520440"/>
            <a:ext cx="2084831" cy="18288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34564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38분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04487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2025초 Claude 3.7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959351"/>
            <a:ext cx="2640787" cy="18288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389534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1시간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434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2025말 Opus 4.5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4398264"/>
            <a:ext cx="4517136" cy="182880"/>
          </a:xfrm>
          <a:prstGeom prst="rect">
            <a:avLst/>
          </a:prstGeom>
          <a:solidFill>
            <a:srgbClr val="F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43342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5시간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823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472"/>
                </a:solidFill>
                <a:latin typeface="Pretendard"/>
              </a:rPr>
              <a:t>2026 Opus 4.6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837176"/>
            <a:ext cx="6949440" cy="182880"/>
          </a:xfrm>
          <a:prstGeom prst="rect">
            <a:avLst/>
          </a:prstGeom>
          <a:solidFill>
            <a:srgbClr val="F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0" y="477316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14.5시간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4864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5C35"/>
                </a:solidFill>
                <a:latin typeface="Pretendard"/>
              </a:rPr>
              <a:t>핵심: 7개월마다 2배 성장 (METR)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607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D6472"/>
                </a:solidFill>
                <a:latin typeface="Pretendard"/>
              </a:rPr>
              <a:t>출처</a:t>
            </a:r>
            <a:r>
              <a:rPr sz="1200" b="0" dirty="0">
                <a:solidFill>
                  <a:srgbClr val="5D6472"/>
                </a:solidFill>
                <a:latin typeface="Pretendard"/>
              </a:rPr>
              <a:t>: https://metr.org/blog/2025-03-19-measuring-ai-ability-to-complete-long-tasks/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0807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Pretendard"/>
              </a:rPr>
              <a:t>조만간 일주일이 되고, 한 달이 되고, 1년이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지금 밖에서 무슨 일이 벌어지고 있나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972800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8447" y="5989320"/>
            <a:ext cx="87126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어떻게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만드는가</a:t>
            </a:r>
            <a:r>
              <a:rPr lang="en-US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altLang="ko-KR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필요한가</a:t>
            </a:r>
            <a:r>
              <a:rPr lang="en-US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문제인식</a:t>
            </a:r>
            <a:r>
              <a:rPr lang="en-US" altLang="ko-KR"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'가 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</a:t>
            </a:r>
            <a:r>
              <a:rPr sz="24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경쟁력</a:t>
            </a:r>
            <a:endParaRPr sz="2400" b="1" dirty="0">
              <a:solidFill>
                <a:srgbClr val="FF5C3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 descr="The text appears to be a statement about a contest or award, mentioning that a list of nominees has been publicly released, but no traditional software developers are included.&#10;&#10;AI 생성 콘텐츠는 정확하지 않을 수 있습니다.">
            <a:extLst>
              <a:ext uri="{FF2B5EF4-FFF2-40B4-BE49-F238E27FC236}">
                <a16:creationId xmlns:a16="http://schemas.microsoft.com/office/drawing/2014/main" id="{26CE6FD5-1AF1-FF22-8334-77670929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12" y="2059592"/>
            <a:ext cx="10263424" cy="703778"/>
          </a:xfrm>
          <a:prstGeom prst="rect">
            <a:avLst/>
          </a:prstGeom>
        </p:spPr>
      </p:pic>
      <p:pic>
        <p:nvPicPr>
          <p:cNvPr id="12" name="그림 11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5D6B3C-5B92-341C-803E-9E4EE4EC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184" y="2447246"/>
            <a:ext cx="5324503" cy="3039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294D-318C-5205-B8CA-EAB0C93A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7F4B689-0B61-92C5-D898-DDC9FB24DA85}"/>
              </a:ext>
            </a:extLst>
          </p:cNvPr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KOREA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6489D-B36F-1CB3-CD64-53C23575A5F0}"/>
              </a:ext>
            </a:extLst>
          </p:cNvPr>
          <p:cNvSpPr txBox="1"/>
          <p:nvPr/>
        </p:nvSpPr>
        <p:spPr>
          <a:xfrm>
            <a:off x="658368" y="5715000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472"/>
                </a:solidFill>
                <a:latin typeface="Pretendard"/>
              </a:rPr>
              <a:t>출처: 정희범 CEO LinkedIn 포스트</a:t>
            </a:r>
          </a:p>
        </p:txBody>
      </p:sp>
      <p:pic>
        <p:nvPicPr>
          <p:cNvPr id="9" name="그림 8" descr="The image depicts a lively exchange between Claude Code League's representative Gyuhyeon Sim and a rival team leader, showcasing a competitive spirit as they discuss the use of a programming language, with a focus on team dynamics and successful code integration.&#10;&#10;AI 생성 콘텐츠는 정확하지 않을 수 있습니다.">
            <a:extLst>
              <a:ext uri="{FF2B5EF4-FFF2-40B4-BE49-F238E27FC236}">
                <a16:creationId xmlns:a16="http://schemas.microsoft.com/office/drawing/2014/main" id="{D6BA7B69-3694-9046-42F5-E08607C73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10" y="914400"/>
            <a:ext cx="5189220" cy="5463540"/>
          </a:xfrm>
          <a:prstGeom prst="rect">
            <a:avLst/>
          </a:prstGeom>
        </p:spPr>
      </p:pic>
      <p:pic>
        <p:nvPicPr>
          <p:cNvPr id="11" name="그림 10" descr="The image depicts a workflow chart illustrating how various team roles contribute to different stages of a product lifecycle, such as Markdown file creation, development, design, and deployment. It also mentions the correlation between team size, workload, and productivity, and indicates a milestone being rapidly achieved due to effective team performance.&#10;&#10;AI 생성 콘텐츠는 정확하지 않을 수 있습니다.">
            <a:extLst>
              <a:ext uri="{FF2B5EF4-FFF2-40B4-BE49-F238E27FC236}">
                <a16:creationId xmlns:a16="http://schemas.microsoft.com/office/drawing/2014/main" id="{B76DAFD1-56AD-F5D8-847D-444888EF1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758" y="0"/>
            <a:ext cx="5050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8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A0FE-B77F-1479-C4A2-955C5A19D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FEC784-6B24-041D-E236-A4076EB626FD}"/>
              </a:ext>
            </a:extLst>
          </p:cNvPr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KOREA</a:t>
            </a:r>
          </a:p>
        </p:txBody>
      </p:sp>
      <p:pic>
        <p:nvPicPr>
          <p:cNvPr id="4" name="그림 3" descr="￬ﾰﾸ￬ﾡﾰ￫ﾐﾜ ￪ﾸﾀ￬ﾝﾀ ￪ﾸﾰ￬ﾈﾠ ￭ﾚﾌ￬ﾂﾬ￬ﾝﾘ ￭ﾘﾑ￫ﾏﾙ ￪ﾴﾀ￭ﾖﾉ￬ﾗﾐ￬ﾄﾜ ￪ﾴﾀ￪ﾳﾄ￬ﾙﾀ ￬ﾃﾝ￬ﾂﾰ￬ﾄﾱ￬ﾝﾘ ￪ﾸﾉ￬ﾦﾝ￬ﾗﾐ ￫ﾌﾀ￭ﾕﾴ￬ﾄﾜ ￫ﾅﾼ￬ﾝﾘ￭ﾕﾘ￪ﾳﾠ ￬ﾞﾈ￬ﾊﾵ￫ﾋﾈ￫ﾋﾤ.&#10;&#10;AI 생성 콘텐츠는 정확하지 않을 수 있습니다.">
            <a:extLst>
              <a:ext uri="{FF2B5EF4-FFF2-40B4-BE49-F238E27FC236}">
                <a16:creationId xmlns:a16="http://schemas.microsoft.com/office/drawing/2014/main" id="{D0F93BA4-843E-24F8-CE67-1FD68448F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270" y="984548"/>
            <a:ext cx="7109460" cy="568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0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경각심 /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한국에서도 이미 이렇게 일하고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972800" cy="37490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424160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 err="1"/>
              <a:t>메디스트림</a:t>
            </a:r>
            <a:r>
              <a:rPr lang="en-US" dirty="0"/>
              <a:t>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1. 157명 중 150명(95%)이 </a:t>
            </a:r>
            <a:r>
              <a:rPr dirty="0" err="1"/>
              <a:t>기본</a:t>
            </a:r>
            <a:r>
              <a:rPr dirty="0"/>
              <a:t> workflow </a:t>
            </a:r>
            <a:r>
              <a:rPr dirty="0" err="1"/>
              <a:t>전환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2. </a:t>
            </a:r>
            <a:r>
              <a:rPr dirty="0" err="1"/>
              <a:t>토큰</a:t>
            </a:r>
            <a:r>
              <a:rPr dirty="0"/>
              <a:t> </a:t>
            </a:r>
            <a:r>
              <a:rPr dirty="0" err="1"/>
              <a:t>상위권은</a:t>
            </a:r>
            <a:r>
              <a:rPr dirty="0"/>
              <a:t> </a:t>
            </a:r>
            <a:r>
              <a:rPr dirty="0" err="1"/>
              <a:t>비개발</a:t>
            </a:r>
            <a:r>
              <a:rPr dirty="0"/>
              <a:t> </a:t>
            </a:r>
            <a:r>
              <a:rPr dirty="0" err="1"/>
              <a:t>직군</a:t>
            </a:r>
            <a:r>
              <a:rPr dirty="0"/>
              <a:t> (</a:t>
            </a:r>
            <a:r>
              <a:rPr dirty="0" err="1"/>
              <a:t>마케터·인사·정산·디자이너</a:t>
            </a:r>
            <a:r>
              <a:rPr dirty="0"/>
              <a:t>)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3. </a:t>
            </a:r>
            <a:r>
              <a:rPr dirty="0" err="1"/>
              <a:t>정산팀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, BO </a:t>
            </a:r>
            <a:r>
              <a:rPr dirty="0" err="1"/>
              <a:t>사내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배포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4. </a:t>
            </a:r>
            <a:r>
              <a:rPr dirty="0" err="1"/>
              <a:t>기획이</a:t>
            </a:r>
            <a:r>
              <a:rPr dirty="0"/>
              <a:t> </a:t>
            </a:r>
            <a:r>
              <a:rPr dirty="0" err="1"/>
              <a:t>개발하고</a:t>
            </a:r>
            <a:r>
              <a:rPr dirty="0"/>
              <a:t>, </a:t>
            </a:r>
            <a:r>
              <a:rPr dirty="0" err="1"/>
              <a:t>디자이너가</a:t>
            </a:r>
            <a:r>
              <a:rPr dirty="0"/>
              <a:t> </a:t>
            </a:r>
            <a:r>
              <a:rPr dirty="0" err="1"/>
              <a:t>프론트</a:t>
            </a:r>
            <a:r>
              <a:rPr dirty="0"/>
              <a:t> </a:t>
            </a:r>
            <a:r>
              <a:rPr dirty="0" err="1"/>
              <a:t>배포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5. </a:t>
            </a:r>
            <a:r>
              <a:rPr dirty="0" err="1"/>
              <a:t>임계점을</a:t>
            </a:r>
            <a:r>
              <a:rPr dirty="0"/>
              <a:t> </a:t>
            </a:r>
            <a:r>
              <a:rPr dirty="0" err="1"/>
              <a:t>넘은</a:t>
            </a:r>
            <a:r>
              <a:rPr dirty="0"/>
              <a:t> </a:t>
            </a:r>
            <a:r>
              <a:rPr dirty="0" err="1"/>
              <a:t>팀원과</a:t>
            </a:r>
            <a:r>
              <a:rPr dirty="0"/>
              <a:t> 못 </a:t>
            </a:r>
            <a:r>
              <a:rPr dirty="0" err="1"/>
              <a:t>넘은</a:t>
            </a:r>
            <a:r>
              <a:rPr dirty="0"/>
              <a:t> </a:t>
            </a:r>
            <a:r>
              <a:rPr dirty="0" err="1"/>
              <a:t>팀원은</a:t>
            </a:r>
            <a:r>
              <a:rPr dirty="0"/>
              <a:t>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방식이</a:t>
            </a:r>
            <a:r>
              <a:rPr dirty="0"/>
              <a:t> </a:t>
            </a:r>
            <a:r>
              <a:rPr dirty="0" err="1"/>
              <a:t>갈린다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31854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D6472"/>
                </a:solidFill>
                <a:latin typeface="Pretendard"/>
              </a:rPr>
              <a:t>출처</a:t>
            </a:r>
            <a:r>
              <a:rPr sz="1200" b="0" dirty="0">
                <a:solidFill>
                  <a:srgbClr val="5D6472"/>
                </a:solidFill>
                <a:latin typeface="Pretendard"/>
              </a:rPr>
              <a:t>: </a:t>
            </a:r>
            <a:r>
              <a:rPr sz="1200" b="0" dirty="0" err="1">
                <a:solidFill>
                  <a:srgbClr val="5D6472"/>
                </a:solidFill>
                <a:latin typeface="Pretendard"/>
              </a:rPr>
              <a:t>정희범</a:t>
            </a:r>
            <a:r>
              <a:rPr sz="1200" b="0" dirty="0">
                <a:solidFill>
                  <a:srgbClr val="5D6472"/>
                </a:solidFill>
                <a:latin typeface="Pretendard"/>
              </a:rPr>
              <a:t> </a:t>
            </a:r>
            <a:r>
              <a:rPr lang="en-US" sz="1200" b="0" dirty="0" err="1">
                <a:solidFill>
                  <a:srgbClr val="5D6472"/>
                </a:solidFill>
                <a:latin typeface="Pretendard"/>
              </a:rPr>
              <a:t>Medistream</a:t>
            </a:r>
            <a:r>
              <a:rPr lang="en-US" sz="1200" b="0" dirty="0">
                <a:solidFill>
                  <a:srgbClr val="5D6472"/>
                </a:solidFill>
                <a:latin typeface="Pretendard"/>
              </a:rPr>
              <a:t> </a:t>
            </a:r>
            <a:r>
              <a:rPr sz="1200" b="0" dirty="0">
                <a:solidFill>
                  <a:srgbClr val="5D6472"/>
                </a:solidFill>
                <a:latin typeface="Pretendard"/>
              </a:rPr>
              <a:t>CEO LinkedIn </a:t>
            </a:r>
            <a:r>
              <a:rPr sz="1200" b="0" dirty="0" err="1">
                <a:solidFill>
                  <a:srgbClr val="5D6472"/>
                </a:solidFill>
                <a:latin typeface="Pretendard"/>
              </a:rPr>
              <a:t>포스트</a:t>
            </a:r>
            <a:endParaRPr sz="1200" b="0" dirty="0">
              <a:solidFill>
                <a:srgbClr val="5D6472"/>
              </a:solidFill>
              <a:latin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64353" y="5989320"/>
            <a:ext cx="796083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1A1A1A"/>
                </a:solidFill>
                <a:latin typeface="Pretendard"/>
              </a:rPr>
              <a:t>참고로 이 회사 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AI </a:t>
            </a:r>
            <a:r>
              <a:rPr sz="2200" b="1" dirty="0" err="1">
                <a:solidFill>
                  <a:srgbClr val="1A1A1A"/>
                </a:solidFill>
                <a:latin typeface="Pretendard"/>
              </a:rPr>
              <a:t>전문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1" dirty="0" err="1">
                <a:solidFill>
                  <a:srgbClr val="1A1A1A"/>
                </a:solidFill>
                <a:latin typeface="Pretendard"/>
              </a:rPr>
              <a:t>회사가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1" dirty="0" err="1">
                <a:solidFill>
                  <a:srgbClr val="1A1A1A"/>
                </a:solidFill>
                <a:latin typeface="Pretendard"/>
              </a:rPr>
              <a:t>아닙니다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. </a:t>
            </a:r>
            <a:r>
              <a:rPr lang="ko-KR" altLang="en-US" sz="2200" b="1" dirty="0">
                <a:solidFill>
                  <a:srgbClr val="1A1A1A"/>
                </a:solidFill>
                <a:latin typeface="Pretendard"/>
              </a:rPr>
              <a:t>한의학 </a:t>
            </a:r>
            <a:r>
              <a:rPr sz="2200" b="1" dirty="0" err="1">
                <a:solidFill>
                  <a:srgbClr val="1A1A1A"/>
                </a:solidFill>
                <a:latin typeface="Pretendard"/>
              </a:rPr>
              <a:t>플랫폼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1" dirty="0" err="1">
                <a:solidFill>
                  <a:srgbClr val="1A1A1A"/>
                </a:solidFill>
                <a:latin typeface="Pretendard"/>
              </a:rPr>
              <a:t>회사입니다</a:t>
            </a:r>
            <a:r>
              <a:rPr sz="2200" b="1" dirty="0">
                <a:solidFill>
                  <a:srgbClr val="1A1A1A"/>
                </a:solidFill>
                <a:latin typeface="Pretendar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AI 활용은 4단계로 진화하고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1" y="1920240"/>
            <a:ext cx="2697480" cy="3611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0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5C35"/>
                </a:solidFill>
                <a:latin typeface="Pretendard"/>
              </a:rPr>
              <a:t>1단계
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채팅창 질문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단발성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대부분이 여기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1" y="1920240"/>
            <a:ext cx="2697480" cy="3611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1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>
                <a:solidFill>
                  <a:srgbClr val="5B6CF9"/>
                </a:solidFill>
                <a:latin typeface="Pretendard"/>
              </a:rPr>
              <a:t>2단계
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1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CLAUDE.md 세팅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규칙 지속 기억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한 번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1" y="1920240"/>
            <a:ext cx="2697480" cy="3611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17859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>
                <a:solidFill>
                  <a:srgbClr val="5B6CF9"/>
                </a:solidFill>
                <a:latin typeface="Pretendard"/>
              </a:rPr>
              <a:t>3단계
Compound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1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팀 공유 + 도구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조합 실행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조직 자동화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1" y="1920240"/>
            <a:ext cx="2697480" cy="3611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1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>
                <a:solidFill>
                  <a:srgbClr val="5B6CF9"/>
                </a:solidFill>
                <a:latin typeface="Pretendard"/>
              </a:rPr>
              <a:t>4단계
Harness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1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자율 루프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테스트·수정 반복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Pretendard"/>
              </a:defRPr>
            </a:pPr>
            <a:r>
              <a:t>24시간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1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5C35"/>
                </a:solidFill>
                <a:latin typeface="Pretendard"/>
              </a:rPr>
              <a:t>채팅 AI에 머물면 임계점을 넘을 수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문제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AI를 채팅으로만 쓰면 생기는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349240" cy="356616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1928" y="1920240"/>
            <a:ext cx="5349240" cy="356616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5C35"/>
                </a:solidFill>
                <a:latin typeface="Pretendard"/>
              </a:rPr>
              <a:t>웹 채팅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'왜 또 </a:t>
            </a:r>
            <a:r>
              <a:rPr dirty="0" err="1"/>
              <a:t>물어봐</a:t>
            </a:r>
            <a:r>
              <a:rPr dirty="0"/>
              <a:t>?'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창 </a:t>
            </a:r>
            <a:r>
              <a:rPr dirty="0" err="1"/>
              <a:t>닫으면</a:t>
            </a:r>
            <a:r>
              <a:rPr dirty="0"/>
              <a:t> </a:t>
            </a:r>
            <a:r>
              <a:rPr dirty="0" err="1"/>
              <a:t>초기화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/>
              <a:t>긴 </a:t>
            </a:r>
            <a:r>
              <a:rPr dirty="0" err="1"/>
              <a:t>대화에서</a:t>
            </a:r>
            <a:r>
              <a:rPr dirty="0"/>
              <a:t> </a:t>
            </a:r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손실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설명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5C35"/>
                </a:solidFill>
                <a:latin typeface="Pretendard"/>
              </a:rPr>
              <a:t>슬랙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75488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'3개월 전 </a:t>
            </a:r>
            <a:r>
              <a:rPr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</a:t>
            </a:r>
            <a:r>
              <a: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기억나요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r>
              <a: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소통의</a:t>
            </a:r>
            <a:r>
              <a:rPr dirty="0"/>
              <a:t> </a:t>
            </a:r>
            <a:r>
              <a:rPr dirty="0" err="1"/>
              <a:t>대가는</a:t>
            </a:r>
            <a:r>
              <a:rPr dirty="0"/>
              <a:t> </a:t>
            </a:r>
            <a:r>
              <a:rPr dirty="0" err="1"/>
              <a:t>휘발</a:t>
            </a:r>
            <a:endParaRPr dirty="0"/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dirty="0" err="1"/>
              <a:t>추적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 = </a:t>
            </a:r>
            <a:r>
              <a:rPr dirty="0" err="1"/>
              <a:t>재작업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Pretendard"/>
              </a:rPr>
              <a:t>채팅은 빠르지만 남지 않는다. 남지 않으면 쌓이지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해결책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터미널을 켜면 AI의 속이 보인다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197826" cy="45537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1928" y="1920240"/>
            <a:ext cx="5251704" cy="45537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5C35"/>
                </a:solidFill>
                <a:latin typeface="Pretendard"/>
              </a:rPr>
              <a:t>기존 채팅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5488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대화의 휘발성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창을 닫는 순간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공들여 설명한 모든 맥락이 초기화됩니다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프롬프트 노동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똑같은 지시를 매번 다시 쓰고 설명해야 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맥락의 단절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대화가 길어질수록 앞 내용을 잊고 엉뚱한 소리를 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치명적인 착각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우리는 꽤 오래 대화했으니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AI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나를 잘 알겠지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?"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라는 근거 없는 믿음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질문하는 기술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(Prompt)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나빠지면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성능도 함께 곤두박질칩니다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endParaRPr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31951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5B6CF9"/>
                </a:solidFill>
                <a:latin typeface="Pretendard"/>
              </a:rPr>
              <a:t>터미널 </a:t>
            </a:r>
            <a:r>
              <a:rPr lang="en-US" altLang="ko-KR" sz="2400" b="1" dirty="0">
                <a:solidFill>
                  <a:srgbClr val="5B6CF9"/>
                </a:solidFill>
                <a:latin typeface="Pretendard"/>
              </a:rPr>
              <a:t>: </a:t>
            </a:r>
            <a:r>
              <a:rPr sz="2400" b="1" dirty="0">
                <a:solidFill>
                  <a:srgbClr val="5B6CF9"/>
                </a:solidFill>
                <a:latin typeface="Pretendard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75488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대화의 자산화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모든 대화와 작업 과정이 파일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히스토리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물리적으로 저장됩니다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컨텍스트 중심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프롬프트가 아니라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잘 정리된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움직입니다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공유 지능의 기초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핵심 규칙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(CLAUDE.md)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저장하면 누가 접속해도 똑같이 똑똑합니다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실수의 복리화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 번의 교정이 오답노트가 되어 다시는 같은 실수를 반복하지 않습니다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지속적 복리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 번 설정하면 계속 기억하며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시간이 갈수록 데이터가 쌓여 더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강력해집니다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프롬프트 잘 쓰는 시대는 끝났다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4754880" cy="114300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F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75704" y="1920240"/>
            <a:ext cx="4754880" cy="114300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76096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Prompt Engineering</a:t>
            </a:r>
            <a:r>
              <a:rPr lang="en-US" sz="18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</a:t>
            </a:r>
            <a:r>
              <a:rPr lang="en-US" altLang="ko-KR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sz="18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'</a:t>
            </a:r>
            <a:r>
              <a:rPr sz="18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질문을</a:t>
            </a:r>
            <a:r>
              <a:rPr sz="18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잘 </a:t>
            </a:r>
            <a:r>
              <a:rPr sz="1800" b="1" dirty="0" err="1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써야</a:t>
            </a:r>
            <a:r>
              <a:rPr sz="1800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해’</a:t>
            </a:r>
            <a:endParaRPr lang="en-US" sz="1800" b="1" dirty="0">
              <a:solidFill>
                <a:srgbClr val="FF5C3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개인기</a:t>
            </a:r>
            <a:r>
              <a:rPr lang="en-US" altLang="ko-KR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altLang="ko-KR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b="1" dirty="0">
                <a:solidFill>
                  <a:srgbClr val="FF5C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의존하는 단발성 성과 </a:t>
            </a:r>
            <a:endParaRPr b="1" dirty="0">
              <a:solidFill>
                <a:srgbClr val="FF5C3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71394" y="2034647"/>
            <a:ext cx="403187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Context Engineering</a:t>
            </a:r>
            <a:r>
              <a:rPr lang="en-US"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</a:t>
            </a:r>
            <a:r>
              <a:rPr lang="en-US" altLang="ko-KR"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l"/>
            <a:r>
              <a:rPr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sz="1800" b="1" dirty="0" err="1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정보를</a:t>
            </a:r>
            <a:r>
              <a:rPr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잘 </a:t>
            </a:r>
            <a:r>
              <a:rPr sz="1800" b="1" dirty="0" err="1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쌓아야</a:t>
            </a:r>
            <a:r>
              <a:rPr sz="18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해’</a:t>
            </a:r>
            <a:endParaRPr lang="en-US" sz="1800"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시스템에 의존하는 지속 가능한 복리 성과</a:t>
            </a:r>
            <a:endParaRPr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669280" y="2331720"/>
            <a:ext cx="868680" cy="384048"/>
          </a:xfrm>
          <a:prstGeom prst="rightArrow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3383279"/>
            <a:ext cx="10872216" cy="288304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515600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CLAUDE.md: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업무의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헌법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만들기</a:t>
            </a:r>
            <a:endParaRPr lang="en-US" altLang="ko-KR" sz="2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반복되는 규칙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스타일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금지 사항을 파일로 문서화 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명령을 듣기 전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'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스스로 읽고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기준을 잡게 함 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지식의 구조화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꼭 특정 툴일 필요는 없다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Notion / Obsidian / 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메모 앱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흩어진 내 생각을 마크다운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(.md)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정리하는 습관 </a:t>
            </a:r>
            <a:endParaRPr lang="en-US" altLang="ko-KR" sz="20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1A1A1A"/>
                </a:solidFill>
                <a:latin typeface="Pretendard"/>
              </a:defRPr>
            </a:pP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원칙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즉시 읽고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(Read) 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이해할 수 있는 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구조적 텍스트</a:t>
            </a:r>
            <a:r>
              <a:rPr lang="en-US" altLang="ko-KR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누적 </a:t>
            </a:r>
            <a:endParaRPr sz="20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복리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매일 쌓이면 복리가 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57400"/>
            <a:ext cx="3429000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256512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1</a:t>
            </a:r>
            <a:endParaRPr lang="en-US" sz="2000"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동기화의 시작 </a:t>
            </a:r>
            <a:r>
              <a:rPr lang="en-US" altLang="ko-KR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(Sync)</a:t>
            </a:r>
            <a:endParaRPr sz="2000"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7380" y="3648271"/>
            <a:ext cx="3108543" cy="1554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사소한 것부터 일단 시켜보기</a:t>
            </a:r>
            <a:endParaRPr lang="en-US" altLang="ko-KR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sz="19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채팅 후 </a:t>
            </a:r>
            <a:r>
              <a:rPr lang="ko-KR" altLang="en-US" sz="1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복붙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 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버리고 직접 실행</a:t>
            </a:r>
            <a:endParaRPr lang="en-US" altLang="ko-KR" sz="19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sz="19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sz="19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325112" y="3611880"/>
            <a:ext cx="256032" cy="411480"/>
          </a:xfrm>
          <a:prstGeom prst="rightArrow">
            <a:avLst/>
          </a:prstGeom>
          <a:solidFill>
            <a:srgbClr val="F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2057400"/>
            <a:ext cx="3429000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231024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7</a:t>
            </a:r>
            <a:r>
              <a:rPr 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r>
              <a:rPr 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습관의 전환 </a:t>
            </a:r>
            <a:r>
              <a:rPr lang="en-US" altLang="ko-KR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(Shift)</a:t>
            </a:r>
            <a:endParaRPr sz="2000"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9977" y="3649154"/>
            <a:ext cx="314701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워크플로우를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에이전트화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CLAUDE.MD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나만의 룰 구축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8119872" y="3611880"/>
            <a:ext cx="256032" cy="411480"/>
          </a:xfrm>
          <a:prstGeom prst="rightArrow">
            <a:avLst/>
          </a:prstGeom>
          <a:solidFill>
            <a:srgbClr val="F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2057400"/>
            <a:ext cx="3429000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331720"/>
            <a:ext cx="315022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30</a:t>
            </a:r>
            <a:r>
              <a:rPr 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r>
              <a:rPr 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지능의 완성 </a:t>
            </a:r>
            <a:r>
              <a:rPr lang="en-US" altLang="ko-KR" sz="2000" b="1" dirty="0">
                <a:solidFill>
                  <a:srgbClr val="5B6CF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(Intelligence)</a:t>
            </a:r>
            <a:endParaRPr sz="2000" b="1" dirty="0">
              <a:solidFill>
                <a:srgbClr val="5B6CF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41664" y="3475032"/>
            <a:ext cx="320481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나의 지능이 </a:t>
            </a:r>
            <a:endParaRPr lang="en-US" altLang="ko-KR" sz="1900" b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900" b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팀의 자산으로 </a:t>
            </a:r>
            <a:r>
              <a:rPr lang="ko-KR" altLang="en-US" sz="19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동기화</a:t>
            </a:r>
            <a:r>
              <a:rPr lang="en-US" altLang="ko-KR" sz="19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ko-KR" altLang="en-US" sz="190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복제</a:t>
            </a:r>
            <a:endParaRPr lang="en-US" altLang="ko-KR" sz="190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sz="1900" b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1900" b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900" b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의도를 읽고 </a:t>
            </a:r>
            <a:r>
              <a:rPr lang="ko-KR" altLang="en-US" sz="1900" b="0" dirty="0" err="1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선제적</a:t>
            </a:r>
            <a:r>
              <a:rPr lang="ko-KR" altLang="en-US" sz="1900" b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대응</a:t>
            </a:r>
            <a:endParaRPr lang="en-US" sz="1900" b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sz="1900" b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5C35"/>
                </a:solidFill>
                <a:latin typeface="Pretendard"/>
              </a:rPr>
              <a:t>임계점을 넘으면, 일하는 방식이 달라진다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나만의 업무 기록부터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57400"/>
            <a:ext cx="3429000" cy="352044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2343823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dirty="0">
                <a:solidFill>
                  <a:srgbClr val="5B6CF9"/>
                </a:solidFill>
                <a:latin typeface="Pretendard"/>
              </a:rPr>
              <a:t>내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527164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dirty="0">
                <a:solidFill>
                  <a:srgbClr val="1A1A1A"/>
                </a:solidFill>
                <a:latin typeface="Pretendard"/>
              </a:rPr>
              <a:t>내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업무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설명서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
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AI가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나를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기억</a:t>
            </a:r>
            <a:endParaRPr sz="19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63440" y="2057400"/>
            <a:ext cx="3429000" cy="352044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49240" y="230670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dirty="0" err="1">
                <a:solidFill>
                  <a:srgbClr val="5B6CF9"/>
                </a:solidFill>
                <a:latin typeface="Pretendard"/>
              </a:rPr>
              <a:t>매일</a:t>
            </a:r>
            <a:r>
              <a:rPr sz="2700" b="1" dirty="0">
                <a:solidFill>
                  <a:srgbClr val="5B6CF9"/>
                </a:solidFill>
                <a:latin typeface="Pretendard"/>
              </a:rPr>
              <a:t>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3552713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dirty="0" err="1">
                <a:solidFill>
                  <a:srgbClr val="1A1A1A"/>
                </a:solidFill>
                <a:latin typeface="Pretendard"/>
              </a:rPr>
              <a:t>업무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저장점이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
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자동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일지로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축적</a:t>
            </a:r>
            <a:endParaRPr sz="19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8200" y="2057400"/>
            <a:ext cx="3429000" cy="3520440"/>
          </a:xfrm>
          <a:prstGeom prst="roundRect">
            <a:avLst/>
          </a:prstGeom>
          <a:solidFill>
            <a:srgbClr val="F7F8FC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87753" y="2293934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dirty="0">
                <a:solidFill>
                  <a:srgbClr val="5B6CF9"/>
                </a:solidFill>
                <a:latin typeface="Pretendard"/>
              </a:rPr>
              <a:t>/wrap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490857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dirty="0" err="1">
                <a:solidFill>
                  <a:srgbClr val="1A1A1A"/>
                </a:solidFill>
                <a:latin typeface="Pretendard"/>
              </a:rPr>
              <a:t>퇴근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전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자동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정리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
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내일</a:t>
            </a:r>
            <a:r>
              <a:rPr sz="1900" b="0" dirty="0">
                <a:solidFill>
                  <a:srgbClr val="1A1A1A"/>
                </a:solidFill>
                <a:latin typeface="Pretendard"/>
              </a:rPr>
              <a:t> 할 일 </a:t>
            </a:r>
            <a:r>
              <a:rPr sz="1900" b="0" dirty="0" err="1">
                <a:solidFill>
                  <a:srgbClr val="1A1A1A"/>
                </a:solidFill>
                <a:latin typeface="Pretendard"/>
              </a:rPr>
              <a:t>생성</a:t>
            </a:r>
            <a:endParaRPr sz="19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Pretendard"/>
              </a:rPr>
              <a:t>내일 아침, Claude Code를 켜는 것부터 시작입니다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팀이 함께 쌓으면: 공유 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10972800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6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1A1A1A"/>
                </a:solidFill>
                <a:latin typeface="Pretendard"/>
              </a:rPr>
              <a:t>"지은님이 저번 주에 뭐 하셨죠?"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26480" y="2505456"/>
            <a:ext cx="640080" cy="228600"/>
          </a:xfrm>
          <a:prstGeom prst="rightArrow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242316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5C35"/>
                </a:solidFill>
                <a:latin typeface="Pretendard"/>
              </a:rPr>
              <a:t>AI가 알고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1A1A1A"/>
                </a:solidFill>
                <a:latin typeface="Pretendard"/>
              </a:rPr>
              <a:t>"이 업무 누가 담당하고 있죠?"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26480" y="3465576"/>
            <a:ext cx="640080" cy="228600"/>
          </a:xfrm>
          <a:prstGeom prst="rightArrow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33832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5C35"/>
                </a:solidFill>
                <a:latin typeface="Pretendard"/>
              </a:rPr>
              <a:t>AI가 알고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1A1A1A"/>
                </a:solidFill>
                <a:latin typeface="Pretendard"/>
              </a:rPr>
              <a:t>"비슷한 거 예전에 해봤나요?"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26480" y="4425696"/>
            <a:ext cx="640080" cy="228600"/>
          </a:xfrm>
          <a:prstGeom prst="rightArrow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43434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5C35"/>
                </a:solidFill>
                <a:latin typeface="Pretendard"/>
              </a:rPr>
              <a:t>AI가 찾아준다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Pretendard"/>
              </a:rPr>
              <a:t>슬랙 대화가 아니라, git 히스토리가 팀의 기억이 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B58B-029D-1112-0E7D-49E2F1CD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5261C8-044C-4FE8-A861-E2C53C854A1B}"/>
              </a:ext>
            </a:extLst>
          </p:cNvPr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PHASE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79ADF-3CE2-5E23-45CC-4ED2BA1FB6A1}"/>
              </a:ext>
            </a:extLst>
          </p:cNvPr>
          <p:cNvSpPr txBox="1"/>
          <p:nvPr/>
        </p:nvSpPr>
        <p:spPr>
          <a:xfrm>
            <a:off x="609600" y="63139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 err="1">
                <a:solidFill>
                  <a:srgbClr val="1A1A1A"/>
                </a:solidFill>
                <a:latin typeface="Pretendard"/>
              </a:rPr>
              <a:t>슬랙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대화가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아니라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, git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히스토리가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팀의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기억이</a:t>
            </a:r>
            <a:r>
              <a:rPr sz="2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Pretendard"/>
              </a:rPr>
              <a:t>됩니다</a:t>
            </a:r>
            <a:endParaRPr sz="2000" b="1" dirty="0">
              <a:solidFill>
                <a:srgbClr val="1A1A1A"/>
              </a:solidFill>
              <a:latin typeface="Pretendard"/>
            </a:endParaRPr>
          </a:p>
        </p:txBody>
      </p:sp>
      <p:pic>
        <p:nvPicPr>
          <p:cNvPr id="16" name="그림 15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B51280-F891-DA8E-34EA-FCCD4DA5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299" y="713232"/>
            <a:ext cx="5744377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6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TEAM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CLAUDE.md를 팀의 오답노트로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D6472"/>
                </a:solidFill>
                <a:latin typeface="Pretendard"/>
              </a:rPr>
              <a:t>프롬프트를 넘어서 팀의 정보·실수를 복리처럼 누적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0972800" cy="3611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t>1. 우리 팀의 역할 - 목적, 주요 업무 한 줄 정의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t>2. 컨텍스트 경로 - Notion 링크, 공유 폴더, 성공 사례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t>3. 기본 규칙·톤앤매너 - 문서 구조, 어조, 데이터 표기 기준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t>4. 오답노트 - AI가 틀릴 때마다 추가하여 재발 방지</a:t>
            </a:r>
          </a:p>
          <a:p>
            <a:pPr>
              <a:spcAft>
                <a:spcPts val="700"/>
              </a:spcAft>
              <a:defRPr sz="2000">
                <a:solidFill>
                  <a:srgbClr val="1A1A1A"/>
                </a:solidFill>
                <a:latin typeface="Pretendard"/>
              </a:defRPr>
            </a:pPr>
            <a:r>
              <a:t>5. 필수 워크플로우 - 시작 전 Plan -&gt; 완료 후 검증 -&gt; 퇴근 전 /wrap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5C35"/>
                </a:solidFill>
                <a:latin typeface="Pretendard"/>
              </a:rPr>
              <a:t>팀원이 발견한 AI의 실수가 쌓일수록, AI는 더 똑똑해진다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F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D6472"/>
                </a:solidFill>
                <a:latin typeface="Pretendard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1A1A1A"/>
                </a:solidFill>
                <a:latin typeface="Pretendard"/>
              </a:rPr>
              <a:t>이렇게 쌓인다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972800" cy="3749039"/>
          </a:xfrm>
          <a:prstGeom prst="roundRect">
            <a:avLst/>
          </a:prstGeom>
          <a:solidFill>
            <a:srgbClr val="1A1A1A"/>
          </a:solidFill>
          <a:ln w="1778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4241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팀 공용 오답노트 (Anti-patterns)</a:t>
            </a:r>
          </a:p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[03.15] 경쟁사 분석 시, 2022년 이전 데이터 인용 금지. 반드시 최신 연도 확인</a:t>
            </a:r>
          </a:p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[03.20] 회의록 요약 시, 사담 제외. 결정 사항/다음 할 일만 추출</a:t>
            </a:r>
          </a:p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[04.02] 코드 작성 시, 가짜 API 엔드포인트 생성 금지. 공식 문서 경로만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Pretendard"/>
              </a:rPr>
              <a:t>한 명이 발견하면, 팀 전체가 같은 실수를 안 한다. 이게 공유 지능이다.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384048"/>
            <a:ext cx="1737360" cy="329184"/>
          </a:xfrm>
          <a:prstGeom prst="roundRect">
            <a:avLst/>
          </a:prstGeom>
          <a:solidFill>
            <a:srgbClr val="1A1A1A"/>
          </a:solidFill>
          <a:ln>
            <a:solidFill>
              <a:srgbClr val="56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Pretendard"/>
              </a:rPr>
              <a:t>오늘 저녁부터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D6D6D6"/>
                </a:solidFill>
                <a:latin typeface="Pretendard"/>
              </a:rPr>
              <a:t>딱 이것만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5C35"/>
                </a:solidFill>
                <a:latin typeface="Pretendard"/>
              </a:rPr>
              <a:t>① Claude Code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063240"/>
            <a:ext cx="8595360" cy="205740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3310128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Pretendard"/>
              </a:defRPr>
            </a:pPr>
            <a:r>
              <a:t>② 아침에 PC 켜면 Claude Code도 켠다 - 사소한 것부터 시킨다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Pretendard"/>
              </a:defRPr>
            </a:pPr>
            <a:r>
              <a:t>③ 퇴근 전: /wrap -&gt; commit -&gt; push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Pretendard"/>
              </a:defRPr>
            </a:pPr>
            <a:r>
              <a:t>/wrap: 자동 정리 | commit: 저장점 | push: 팀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이 3개만 매일 반복하면, 컨텍스트의 복리가 시작된다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1035</Words>
  <Application>Microsoft Office PowerPoint</Application>
  <PresentationFormat>와이드스크린</PresentationFormat>
  <Paragraphs>162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서현 안</cp:lastModifiedBy>
  <cp:revision>3</cp:revision>
  <dcterms:created xsi:type="dcterms:W3CDTF">2013-01-27T09:14:16Z</dcterms:created>
  <dcterms:modified xsi:type="dcterms:W3CDTF">2026-03-02T15:29:26Z</dcterms:modified>
  <cp:category/>
</cp:coreProperties>
</file>