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1A1A1A"/>
                </a:solidFill>
                <a:latin typeface="Pretendard"/>
              </a:rPr>
              <a:t>우리는 AI를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06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5B6CF9"/>
                </a:solidFill>
                <a:latin typeface="Pretendard"/>
              </a:rPr>
              <a:t>잘못 쓰고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69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A9AA8"/>
                </a:solidFill>
                <a:latin typeface="Pretendard"/>
              </a:rPr>
              <a:t>ChatGPT, Gemini, Claude — 다들 쓰고 있다.</a:t>
            </a:r>
          </a:p>
          <a:p>
            <a:pPr algn="l"/>
            <a:r>
              <a:rPr sz="1700" b="0">
                <a:solidFill>
                  <a:srgbClr val="9A9AA8"/>
                </a:solidFill>
                <a:latin typeface="Pretendard"/>
              </a:rPr>
              <a:t>근데 왜 업무가 별로 안 바뀐 것 같지?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1A"/>
                </a:solidFill>
                <a:latin typeface="Pretendard"/>
              </a:rPr>
              <a:t>지금 밖에서 무슨 일이 벌어지고 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3511296" cy="46634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4475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Pretendard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"토큰에 변화가 없던데?"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33472"/>
            <a:ext cx="31089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설에 쉬는 회사 대표에게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다른 회사 대표가 날린 한마디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/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— Claude Code League 中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261872"/>
            <a:ext cx="3511296" cy="46634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5" y="144475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Pretendard"/>
              </a:rPr>
              <a:t>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5" y="2039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인티그레이션 · 157명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5" y="2633472"/>
            <a:ext cx="31089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✓ 150명 (95%) 전환 완료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✓ 마케터·인사·정산팀이 상위권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✓ 정산팀이 자동화 툴 직접 개발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✓ BO가 사내 시스템 직접 배포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4736" y="1261872"/>
            <a:ext cx="3511296" cy="46634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44475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Pretendard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039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5C35"/>
                </a:solidFill>
                <a:latin typeface="Pretendard"/>
              </a:rPr>
              <a:t>임계점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633472"/>
            <a:ext cx="31089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Pretendard"/>
              </a:rPr>
              <a:t>임계점을 넘은 팀원과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Pretendard"/>
              </a:rPr>
              <a:t>못 넘은 팀원은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Pretendard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Pretendard"/>
              </a:rPr>
              <a:t>"대화가 되지 않습니다"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1A"/>
                </a:solidFill>
                <a:latin typeface="Pretendard"/>
              </a:rPr>
              <a:t>AI도, 슬랙도 — 기억하지 못한다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5422392" cy="42062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4475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Pretendard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50200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채팅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33472"/>
            <a:ext cx="5020055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"분명히 설명했는데 왜 또 물어봐?"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/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→ 대화창 닫으면 초기화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→ 컨텍스트가 길어질수록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   앞 내용을 잊는다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61872"/>
            <a:ext cx="5422392" cy="42062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44475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Pretendard"/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039112"/>
            <a:ext cx="50200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슬랙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633472"/>
            <a:ext cx="5020055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"3개월 전 대화, 찾을 수 있나요?"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/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→ 빠른 소통의 대가는 휘발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→ 일주일 전 업무 요청,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   지금 추적 가능한가요?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650992"/>
            <a:ext cx="11091672" cy="795528"/>
          </a:xfrm>
          <a:prstGeom prst="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7790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B6CF9"/>
                </a:solidFill>
                <a:latin typeface="Pretendard"/>
              </a:rPr>
              <a:t>빠름의 대가가 '휘발'이다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1A"/>
                </a:solidFill>
                <a:latin typeface="Pretendard"/>
              </a:rPr>
              <a:t>터미널을 켜면 AI의 속이 보인다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5074920" cy="452628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A9AA8"/>
                </a:solidFill>
                <a:latin typeface="Pretendard"/>
              </a:rPr>
              <a:t>기존 채팅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AA8"/>
                </a:solidFill>
                <a:latin typeface="Pretendard"/>
              </a:rPr>
              <a:t>✕  대화 → 사라짐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AA8"/>
                </a:solidFill>
                <a:latin typeface="Pretendard"/>
              </a:rPr>
              <a:t>✕  프롬프트가 중요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22191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AA8"/>
                </a:solidFill>
                <a:latin typeface="Pretendard"/>
              </a:rPr>
              <a:t>✕  매번 설명 반복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4515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AA8"/>
                </a:solidFill>
                <a:latin typeface="Pretendard"/>
              </a:rPr>
              <a:t>✕  창 닫으면 초기화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200400"/>
            <a:ext cx="576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5B6CF9"/>
                </a:solidFill>
                <a:latin typeface="Pretendard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65392" y="1261872"/>
            <a:ext cx="5074920" cy="4526280"/>
          </a:xfrm>
          <a:prstGeom prst="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1463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6CF9"/>
                </a:solidFill>
                <a:latin typeface="Pretendard"/>
              </a:rPr>
              <a:t>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1762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CF9"/>
                </a:solidFill>
                <a:latin typeface="Pretendard"/>
              </a:rPr>
              <a:t>✓  대화 → 파일로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29992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CF9"/>
                </a:solidFill>
                <a:latin typeface="Pretendard"/>
              </a:rPr>
              <a:t>✓  컨텍스트가 중요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3822191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CF9"/>
                </a:solidFill>
                <a:latin typeface="Pretendard"/>
              </a:rPr>
              <a:t>✓  한 번 설정 → 계속 기억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464515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CF9"/>
                </a:solidFill>
                <a:latin typeface="Pretendard"/>
              </a:rPr>
              <a:t>✓  작업 히스토리가 쌓인다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1A"/>
                </a:solidFill>
                <a:latin typeface="Pretendard"/>
              </a:rPr>
              <a:t>프롬프트 잘 쓰는 시대는 끝났다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029200" cy="178308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447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9AA8"/>
                </a:solidFill>
                <a:latin typeface="Pretendard"/>
              </a:rPr>
              <a:t>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9933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A8"/>
                </a:solidFill>
                <a:latin typeface="Pretendard"/>
              </a:rPr>
              <a:t>"질문을 잘 써야 해"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920240"/>
            <a:ext cx="576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B6CF9"/>
                </a:solidFill>
                <a:latin typeface="Pretendard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611112" y="1280160"/>
            <a:ext cx="5029200" cy="1783080"/>
          </a:xfrm>
          <a:prstGeom prst="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4447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6CF9"/>
                </a:solidFill>
                <a:latin typeface="Pretendard"/>
              </a:rPr>
              <a:t>Context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933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CF9"/>
                </a:solidFill>
                <a:latin typeface="Pretendard"/>
              </a:rPr>
              <a:t>"정보를 잘 쌓아야 해"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64992"/>
            <a:ext cx="11091672" cy="2788920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</a:rPr>
              <a:t>잘 정리된 Notion 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Pretendard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28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</a:rPr>
              <a:t>AI에게 주는 좋은 컨텍스트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1A"/>
                </a:solidFill>
                <a:latin typeface="Pretendard"/>
              </a:rPr>
              <a:t>매일 쌓이면 복리가 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2578608" cy="3822191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1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6CF9"/>
                </a:solidFill>
                <a:latin typeface="Pretendard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30552"/>
            <a:ext cx="2212848" cy="272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Pretendard"/>
              </a:rPr>
              <a:t>CLAUDE.md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79" y="2898648"/>
            <a:ext cx="219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9AA8"/>
                </a:solidFill>
                <a:latin typeface="Pretendard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261872"/>
            <a:ext cx="2578608" cy="3822191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444751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6CF9"/>
                </a:solidFill>
                <a:latin typeface="Pretendard"/>
              </a:rPr>
              <a:t>Day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130552"/>
            <a:ext cx="2212848" cy="272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Pretendard"/>
              </a:rPr>
              <a:t>AI가 내 업무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retendard"/>
              </a:rPr>
              <a:t>스타일을 파악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7" y="2898648"/>
            <a:ext cx="219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9AA8"/>
                </a:solidFill>
                <a:latin typeface="Pretendard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5" y="1261872"/>
            <a:ext cx="2578608" cy="3822191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5" y="1444751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6CF9"/>
                </a:solidFill>
                <a:latin typeface="Pretendard"/>
              </a:rPr>
              <a:t>Day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5" y="2130552"/>
            <a:ext cx="2212848" cy="272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Pretendard"/>
              </a:rPr>
              <a:t>"이거 저번에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retendard"/>
              </a:rPr>
              <a:t>어떻게 했지?"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retendard"/>
              </a:rPr>
              <a:t>AI가 기억한다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5" y="2898648"/>
            <a:ext cx="219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9AA8"/>
                </a:solidFill>
                <a:latin typeface="Pretendard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7424" y="1261872"/>
            <a:ext cx="2578608" cy="3822191"/>
          </a:xfrm>
          <a:prstGeom prst="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3" y="1444751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6CF9"/>
                </a:solidFill>
                <a:latin typeface="Pretendard"/>
              </a:rPr>
              <a:t>Day 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3" y="2130552"/>
            <a:ext cx="2212848" cy="272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Pretendard"/>
              </a:rPr>
              <a:t>내 업무 히스토리가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retendard"/>
              </a:rPr>
              <a:t>완성된다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11091672" cy="10058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22392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Pretendard"/>
              </a:rPr>
              <a:t>임계점을 넘으면, 일하는 방식이 달라진다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1A"/>
                </a:solidFill>
                <a:latin typeface="Pretendard"/>
              </a:rPr>
              <a:t>Phase 1 — 나만의 업무 기록부터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3511296" cy="42062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4475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Pretendard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내 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33472"/>
            <a:ext cx="31089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= 내 업무 설명서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AI가 나를 기억하는 파일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나만의 컨텍스트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261872"/>
            <a:ext cx="3511296" cy="42062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5" y="144475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Pretendard"/>
              </a:rPr>
              <a:t>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5" y="2039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매일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5" y="2633472"/>
            <a:ext cx="31089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= 내 업무 일지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누가 시키지 않아도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기록이 쌓인다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4736" y="1261872"/>
            <a:ext cx="3511296" cy="42062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44475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Pretendard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039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/wrap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633472"/>
            <a:ext cx="31089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= 자동 정리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퇴근 전 한 번만 치면</a:t>
            </a:r>
          </a:p>
          <a:p>
            <a:pPr algn="l"/>
            <a:r>
              <a:rPr sz="1200" b="0">
                <a:solidFill>
                  <a:srgbClr val="9A9AA8"/>
                </a:solidFill>
                <a:latin typeface="Pretendard"/>
              </a:rPr>
              <a:t>AI가 알아서 정리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650992"/>
            <a:ext cx="11091672" cy="795528"/>
          </a:xfrm>
          <a:prstGeom prst="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7790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B6CF9"/>
                </a:solidFill>
                <a:latin typeface="Pretendard"/>
              </a:rPr>
              <a:t>내일 아침, Claude Code를 켜는 것부터 시작입니다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1A"/>
                </a:solidFill>
                <a:latin typeface="Pretendard"/>
              </a:rPr>
              <a:t>Phase 2 — 팀이 함께 쌓으면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5B6CF9"/>
                </a:solidFill>
                <a:latin typeface="Pretendard"/>
              </a:rPr>
              <a:t>공유 지능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21408"/>
            <a:ext cx="7772400" cy="1143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95727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retendard"/>
              </a:rPr>
              <a:t>"지은님이 저번 주에 뭐 하셨죠?"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1352" y="2121408"/>
            <a:ext cx="3108960" cy="1143000"/>
          </a:xfrm>
          <a:prstGeom prst="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1352" y="2395727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CF9"/>
                </a:solidFill>
                <a:latin typeface="Pretendard"/>
              </a:rPr>
              <a:t>AI가 알고 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7772400" cy="1143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retendard"/>
              </a:rPr>
              <a:t>"이 업무 누가 담당하고 있죠?"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352" y="3474720"/>
            <a:ext cx="3108960" cy="1143000"/>
          </a:xfrm>
          <a:prstGeom prst="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3749039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CF9"/>
                </a:solidFill>
                <a:latin typeface="Pretendard"/>
              </a:rPr>
              <a:t>AI가 알고 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28031"/>
            <a:ext cx="7772400" cy="1143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02351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retendard"/>
              </a:rPr>
              <a:t>"비슷한 거 예전에 해봤나요?"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31352" y="4828031"/>
            <a:ext cx="3108960" cy="1143000"/>
          </a:xfrm>
          <a:prstGeom prst="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5102351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CF9"/>
                </a:solidFill>
                <a:latin typeface="Pretendard"/>
              </a:rPr>
              <a:t>AI가 찾아준다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9AA8"/>
                </a:solidFill>
                <a:latin typeface="Pretendard"/>
              </a:rPr>
              <a:t>슬랙 대화가 아니라, git 히스토리가 팀의 기억이 됩니다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A9AA8"/>
                </a:solidFill>
                <a:latin typeface="Pretendard"/>
              </a:rPr>
              <a:t>오늘 저녁부터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Pretendard"/>
              </a:rPr>
              <a:t>딱 이것만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62072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6CF9"/>
                </a:solidFill>
                <a:latin typeface="Pretendard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2926079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"/>
              </a:rPr>
              <a:t>Claude Code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6CF9"/>
                </a:solidFill>
                <a:latin typeface="Pretendard"/>
              </a:rPr>
              <a:t>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40416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"/>
              </a:rPr>
              <a:t>내일 아침, PC 켜면 Claude Code도 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93208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6CF9"/>
                </a:solidFill>
                <a:latin typeface="Pretendard"/>
              </a:rPr>
              <a:t>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515721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"/>
              </a:rPr>
              <a:t>퇴근 전  /wrap  →  commit  →  push  →  PC 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