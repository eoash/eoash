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1A1A1A"/>
                </a:solidFill>
                <a:latin typeface="Pretendard"/>
              </a:rPr>
              <a:t>우리는 AI를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6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5B6CF9"/>
                </a:solidFill>
                <a:latin typeface="Pretendard"/>
              </a:rPr>
              <a:t>잘못 쓰고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69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A9AA8"/>
                </a:solidFill>
                <a:latin typeface="Pretendard"/>
              </a:rPr>
              <a:t>ChatGPT, Gemini, Claude — 다들 쓰고 있다.</a:t>
            </a:r>
          </a:p>
          <a:p>
            <a:pPr algn="l"/>
            <a:r>
              <a:rPr sz="1700" b="0">
                <a:solidFill>
                  <a:srgbClr val="9A9AA8"/>
                </a:solidFill>
                <a:latin typeface="Pretendard"/>
              </a:rPr>
              <a:t>근데 왜 업무가 별로 안 바뀐 것 같지?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AI가 혼자 일할 수 있는 시간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새 모델이 나올 때마다 "어떤 모델이 1등인가"만 보고 있지 않나요?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그건 우리에게 직접 와닿지 않습니다.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이 그래프는 다릅니다 — AI가 사람의 일을 얼마나 대체할 수 있는지를 보여줍니다.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2019  GPT-2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194560"/>
            <a:ext cx="27432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214884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2초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40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2023  GPT-4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779776"/>
            <a:ext cx="45720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273405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3분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2024  Claude 3.5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3364991"/>
            <a:ext cx="73152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3319272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11분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04487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2024  o1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3950207"/>
            <a:ext cx="137160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904487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38분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970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2025  Claude 3.7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4535424"/>
            <a:ext cx="201168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23560" y="4489704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1시간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2025  Opus 4.5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5120640"/>
            <a:ext cx="4114800" cy="384048"/>
          </a:xfrm>
          <a:prstGeom prst="rect">
            <a:avLst/>
          </a:prstGeom>
          <a:solidFill>
            <a:srgbClr val="C5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0749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5시간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013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2026  Opus 4.6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5705855"/>
            <a:ext cx="8686800" cy="38404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298680" y="566013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14.5시간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2356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9AA8"/>
                </a:solidFill>
                <a:latin typeface="Pretendard"/>
              </a:rPr>
              <a:t>7개월마다 2배로 성장  — METR Horizon Benchmark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조만간 일주일이 되고, 한 달이 되고, 1년이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지금 밖에서 무슨 일이 벌어지고 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Claude Code 해커톤 수상자 명단에 개발자가 거의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303520" cy="34747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9AA8"/>
                </a:solidFill>
                <a:latin typeface="Pretendard"/>
              </a:rPr>
              <a:t>[해커톤 캡처 이미지]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91640"/>
            <a:ext cx="5422392" cy="6400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01368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🥇 금상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CrossBeam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5C35"/>
                </a:solidFill>
                <a:latin typeface="Pretendard"/>
              </a:rPr>
              <a:t>캘리포니아 상해 전문 변호사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41448"/>
            <a:ext cx="5422392" cy="6400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551176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🥈 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871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Elisa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61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5C35"/>
                </a:solidFill>
                <a:latin typeface="Pretendard"/>
              </a:rPr>
              <a:t>12살 딸을 둔 아버지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91256"/>
            <a:ext cx="5422392" cy="6400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300984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🥉 동상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369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postvisit.ai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11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5C35"/>
                </a:solidFill>
                <a:latin typeface="Pretendard"/>
              </a:rPr>
              <a:t>벨기에 심장내과 과장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41064"/>
            <a:ext cx="5422392" cy="6400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050792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🎨 Creative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867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Conductr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26110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5C35"/>
                </a:solidFill>
                <a:latin typeface="Pretendard"/>
              </a:rPr>
              <a:t>에스토니아 뮤지션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690872"/>
            <a:ext cx="5422392" cy="6400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6CF9"/>
                </a:solidFill>
                <a:latin typeface="Pretendard"/>
              </a:rPr>
              <a:t>🧠 Keep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7365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TARA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0109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5C35"/>
                </a:solidFill>
                <a:latin typeface="Pretendard"/>
              </a:rPr>
              <a:t>우간다 인프라 엔지니어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"어떻게 만드는가"보다 "무엇이 필요한가"가 핵심 경쟁력이 되고 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한국에서도 이미 이렇게 일하고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의료 플랫폼 '메디스트림' vs AX 기업 '렛서' — Claude Code 토큰 전쟁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5029200" cy="38404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9AA8"/>
                </a:solidFill>
                <a:latin typeface="Pretendard"/>
              </a:rPr>
              <a:t>[토큰전쟁 캡처 이미지]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691640"/>
            <a:ext cx="5696712" cy="8686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8288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B6CF9"/>
                </a:solidFill>
                <a:latin typeface="Pretendar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80136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157명 중 150명이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Claude Code로 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697480"/>
            <a:ext cx="5696712" cy="8686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8346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B6CF9"/>
                </a:solidFill>
                <a:latin typeface="Pretendard"/>
              </a:rPr>
              <a:t>비개발자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0720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토큰 최상위권 =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마케터·인사·정산·디자이너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703320"/>
            <a:ext cx="5696712" cy="8686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84048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B6CF9"/>
                </a:solidFill>
                <a:latin typeface="Pretendard"/>
              </a:rPr>
              <a:t>직역 파괴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81304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기획이 개발하고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디자이너가 프론트를 배포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4709160"/>
            <a:ext cx="5696712" cy="8686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48463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B6CF9"/>
                </a:solidFill>
                <a:latin typeface="Pretendard"/>
              </a:rPr>
              <a:t>임계점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81888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넘은 팀원과 못 넘은 팀원은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대화가 되지 않습니다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5C35"/>
                </a:solidFill>
                <a:latin typeface="Pretendard"/>
              </a:rPr>
              <a:t>AI 전문 회사가 아닙니다. 병원 플랫폼 회사입니다.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AI 활용은 4단계로 진화하고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1872"/>
            <a:ext cx="2633472" cy="3931920"/>
          </a:xfrm>
          <a:prstGeom prst="rect">
            <a:avLst/>
          </a:prstGeom>
          <a:solidFill>
            <a:srgbClr val="FFF0EB"/>
          </a:solidFill>
          <a:ln w="25400">
            <a:solidFill>
              <a:srgbClr val="FF5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990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5C35"/>
                </a:solidFill>
                <a:latin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10512"/>
            <a:ext cx="2359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5C35"/>
                </a:solidFill>
                <a:latin typeface="Pretendard"/>
              </a:rPr>
              <a:t>Prompt</a:t>
            </a:r>
          </a:p>
          <a:p>
            <a:pPr algn="l"/>
            <a:r>
              <a:rPr sz="1500" b="1">
                <a:solidFill>
                  <a:srgbClr val="FF5C35"/>
                </a:solidFill>
                <a:latin typeface="Pretendard"/>
              </a:rPr>
              <a:t>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2359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채팅창에 질문하기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2359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"이 코드 에러 원인이 뭐야?"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87952"/>
            <a:ext cx="2359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단발성 질의</a:t>
            </a:r>
          </a:p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창 닫으면 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99923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261872"/>
            <a:ext cx="2633472" cy="39319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13990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5B6CF9"/>
                </a:solidFill>
                <a:latin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810512"/>
            <a:ext cx="2359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Context</a:t>
            </a:r>
          </a:p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633472"/>
            <a:ext cx="2359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CLAUDE.md로 맞춤 세팅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136391"/>
            <a:ext cx="2359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프로젝트 규칙·스타일을</a:t>
            </a:r>
          </a:p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AI가 매번 기억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4187952"/>
            <a:ext cx="2359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한 번 설정</a:t>
            </a:r>
          </a:p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→ 계속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2471" y="299923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261872"/>
            <a:ext cx="2633472" cy="39319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3990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5B6CF9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810512"/>
            <a:ext cx="2359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Compound</a:t>
            </a:r>
          </a:p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633472"/>
            <a:ext cx="2359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팀 공유 + 외부 도구 결합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136391"/>
            <a:ext cx="2359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Slack·Notion·DB를</a:t>
            </a:r>
          </a:p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AI가 직접 실행·조합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87952"/>
            <a:ext cx="2359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개인 → 조직</a:t>
            </a:r>
          </a:p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레벨 자동화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3" y="2999232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34856" y="1261872"/>
            <a:ext cx="2633472" cy="39319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72016" y="13990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5B6CF9"/>
                </a:solidFill>
                <a:latin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1810512"/>
            <a:ext cx="2359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Harness</a:t>
            </a:r>
          </a:p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2633472"/>
            <a:ext cx="2359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자율 에이전틱 루프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3136391"/>
            <a:ext cx="2359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코드→테스트→에러 수정</a:t>
            </a:r>
          </a:p>
          <a:p>
            <a:pPr algn="l"/>
            <a:r>
              <a:rPr sz="1100" b="0">
                <a:solidFill>
                  <a:srgbClr val="9A9AA8"/>
                </a:solidFill>
                <a:latin typeface="Pretendard"/>
              </a:rPr>
              <a:t>AI가 스스로 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2016" y="4187952"/>
            <a:ext cx="2359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24시간 풀 자동화</a:t>
            </a:r>
          </a:p>
          <a:p>
            <a:pPr algn="l"/>
            <a:r>
              <a:rPr sz="1000" b="0">
                <a:solidFill>
                  <a:srgbClr val="9A9AA8"/>
                </a:solidFill>
                <a:latin typeface="Pretendard"/>
              </a:rPr>
              <a:t>CI/CD 결합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285231"/>
            <a:ext cx="2633472" cy="457200"/>
          </a:xfrm>
          <a:prstGeom prst="rect">
            <a:avLst/>
          </a:prstGeom>
          <a:solidFill>
            <a:srgbClr val="FF5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3095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"/>
              </a:rPr>
              <a:t>대부분이 여기에 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채팅 AI에 머물면 임계점을 넘을 수 없다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AI를 채팅으로만 쓰면 생기는 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1872"/>
            <a:ext cx="5422392" cy="420624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44751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Pretendard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50200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웹 채팅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33472"/>
            <a:ext cx="5020055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"분명히 설명했는데 왜 또 물어봐?"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/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 대화창 닫으면 초기화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 컨텍스트가 길어질수록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   앞 내용을 잊는다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 매번 처음부터 다시 설명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61872"/>
            <a:ext cx="5422392" cy="420624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444751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Pretendard"/>
              </a:rPr>
              <a:t>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039112"/>
            <a:ext cx="50200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슬랙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633472"/>
            <a:ext cx="5020055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"3개월 전 대화, 찾을 수 있나요?"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/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 빠른 소통의 대가는 휘발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 일주일 전 업무 요청,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   지금 추적 가능한가요?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채팅은 빠르지만 남지 않는다. 남지 않으면 쌓이지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터미널을 켜면 AI의 속이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1872"/>
            <a:ext cx="5074920" cy="45262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A9AA8"/>
                </a:solidFill>
                <a:latin typeface="Pretendard"/>
              </a:rPr>
              <a:t>기존 채팅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✕  대화 → 사라짐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✕  프롬프트가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22191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✕  매번 설명 반복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4515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A8"/>
                </a:solidFill>
                <a:latin typeface="Pretendard"/>
              </a:rPr>
              <a:t>✕  창 닫으면 초기화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3200400"/>
            <a:ext cx="576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5B6CF9"/>
                </a:solidFill>
                <a:latin typeface="Pretendard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65392" y="1261872"/>
            <a:ext cx="5074920" cy="45262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14630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6CF9"/>
                </a:solidFill>
                <a:latin typeface="Pretendard"/>
              </a:rP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217627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CF9"/>
                </a:solidFill>
                <a:latin typeface="Pretendard"/>
              </a:rPr>
              <a:t>✓  대화 → 파일로 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99923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CF9"/>
                </a:solidFill>
                <a:latin typeface="Pretendard"/>
              </a:rPr>
              <a:t>✓  컨텍스트가 중요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822191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CF9"/>
                </a:solidFill>
                <a:latin typeface="Pretendard"/>
              </a:rPr>
              <a:t>✓  한 번 설정 → 계속 기억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464515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CF9"/>
                </a:solidFill>
                <a:latin typeface="Pretendard"/>
              </a:rPr>
              <a:t>✓  작업 히스토리가 쌓인다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프롬프트 잘 쓰는 시대는 끝났다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029200" cy="155448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417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A9AA8"/>
                </a:solidFill>
                <a:latin typeface="Pretendard"/>
              </a:rPr>
              <a:t>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9AA8"/>
                </a:solidFill>
                <a:latin typeface="Pretendard"/>
              </a:rPr>
              <a:t>"질문을 잘 써야 해"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783080"/>
            <a:ext cx="5760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5B6CF9"/>
                </a:solidFill>
                <a:latin typeface="Pretendard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611112" y="1280160"/>
            <a:ext cx="5029200" cy="15544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417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6CF9"/>
                </a:solidFill>
                <a:latin typeface="Pretendard"/>
              </a:rPr>
              <a:t>Context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CF9"/>
                </a:solidFill>
                <a:latin typeface="Pretendard"/>
              </a:rPr>
              <a:t>"정보를 잘 쌓아야 해"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91672" cy="74980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Pretendard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7355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프로젝트 규칙·스타일을 파일로 정리 → AI가 매번 읽는다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11091672" cy="74980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Pretendard"/>
              </a:rPr>
              <a:t>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Notion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142231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잘 정리된 페이지를 AI에게 붙여넣기 → 그게 곧 컨텍스트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74980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Pretendard"/>
              </a:rPr>
              <a:t>🗂️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Obsidian / 메모앱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1091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내 업무 기록을 마크다운으로 관리 → AI가 읽을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06440"/>
            <a:ext cx="11091672" cy="82296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97879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B6CF9"/>
                </a:solidFill>
                <a:latin typeface="Pretendard"/>
              </a:rPr>
              <a:t>도구는 바뀐다. Claude Code도 언젠가 사라질 수 있다.</a:t>
            </a:r>
          </a:p>
          <a:p>
            <a:pPr algn="ctr"/>
            <a:r>
              <a:rPr sz="1300" b="1">
                <a:solidFill>
                  <a:srgbClr val="5B6CF9"/>
                </a:solidFill>
                <a:latin typeface="Pretendard"/>
              </a:rPr>
              <a:t>남는 것은 '내 정보를 AI가 읽을 수 있게 정리하는 습관'이다.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매일 쌓이면 복리가 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1872"/>
            <a:ext cx="3337560" cy="365760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90472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6CF9"/>
                </a:solidFill>
                <a:latin typeface="Pretendard"/>
              </a:rP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2880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Claude Code를 켜고,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아무 업무나 시켜본다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9352" y="2816352"/>
            <a:ext cx="237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0248" y="1261872"/>
            <a:ext cx="3337560" cy="365760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1490472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6CF9"/>
                </a:solidFill>
                <a:latin typeface="Pretendard"/>
              </a:rPr>
              <a:t>Day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176272"/>
            <a:ext cx="2880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사소한 것부터 모든 업무에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써본다. 메모도 시키고,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CLAUDE.md 정리도 시켜본다.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AI가 나를 어떻게 기록하는지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지켜본다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16352"/>
            <a:ext cx="237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1261872"/>
            <a:ext cx="3337560" cy="365760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490472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6CF9"/>
                </a:solidFill>
                <a:latin typeface="Pretendard"/>
              </a:rPr>
              <a:t>Day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2176272"/>
            <a:ext cx="2880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AI가 더 이상 물어보지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않는다.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Pretendard"/>
              </a:rPr>
              <a:t>맥락을 알고 바로 실행한다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임계점을 넘으면, 일하는 방식이 달라진다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Phase 1 — 나만의 업무 기록부터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1872"/>
            <a:ext cx="3511296" cy="420624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44751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Pretendard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내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33472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= 내 업무 설명서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AI가 나를 기억하는 파일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나만의 컨텍스트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1261872"/>
            <a:ext cx="3511296" cy="420624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5" y="1444751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Pretendard"/>
              </a:rPr>
              <a:t>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5" y="203911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매일 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5" y="2633472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= 내 업무 일지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누가 시키지 않아도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기록이 쌓인다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4736" y="1261872"/>
            <a:ext cx="3511296" cy="420624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444751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203911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/wrap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2633472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= 자동 정리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퇴근 전 한 번만 치면</a:t>
            </a:r>
          </a:p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AI가 알아서 정리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650992"/>
            <a:ext cx="11091672" cy="795528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742431"/>
            <a:ext cx="11091672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5B6CF9"/>
                </a:solidFill>
                <a:latin typeface="Pretendard"/>
              </a:rPr>
              <a:t>내일 아침, Claude Code를 켜는 것부터 시작입니다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Phase 2 — 팀이 함께 쌓으면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5B6CF9"/>
                </a:solidFill>
                <a:latin typeface="Pretendard"/>
              </a:rPr>
              <a:t>공유 지능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21408"/>
            <a:ext cx="7772400" cy="114300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95727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retendard"/>
              </a:rPr>
              <a:t>"지은님이 저번 주에 뭐 하셨죠?"</a:t>
            </a:r>
          </a:p>
        </p:txBody>
      </p:sp>
      <p:sp>
        <p:nvSpPr>
          <p:cNvPr id="7" name="Rectangle 6"/>
          <p:cNvSpPr/>
          <p:nvPr/>
        </p:nvSpPr>
        <p:spPr>
          <a:xfrm>
            <a:off x="8531352" y="2121408"/>
            <a:ext cx="3108960" cy="114300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31352" y="2395727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B6CF9"/>
                </a:solidFill>
                <a:latin typeface="Pretendard"/>
              </a:rPr>
              <a:t>AI가 알고 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7772400" cy="114300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retendard"/>
              </a:rPr>
              <a:t>"이 업무 누가 담당하고 있죠?"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31352" y="3474720"/>
            <a:ext cx="3108960" cy="114300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2" y="3749039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B6CF9"/>
                </a:solidFill>
                <a:latin typeface="Pretendard"/>
              </a:rPr>
              <a:t>AI가 알고 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28031"/>
            <a:ext cx="7772400" cy="114300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02351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Pretendard"/>
              </a:rPr>
              <a:t>"비슷한 거 예전에 해봤나요?"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31352" y="4828031"/>
            <a:ext cx="3108960" cy="114300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5102351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B6CF9"/>
                </a:solidFill>
                <a:latin typeface="Pretendard"/>
              </a:rPr>
              <a:t>AI가 찾아준다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A9AA8"/>
                </a:solidFill>
                <a:latin typeface="Pretendard"/>
              </a:rPr>
              <a:t>슬랙 대화가 아니라, git 히스토리가 팀의 기억이 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CLAUDE.md를 팀의 오답노트로 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9AA8"/>
                </a:solidFill>
                <a:latin typeface="Pretendard"/>
              </a:rPr>
              <a:t>단순히 프롬프트를 잘 쓰는 것을 넘어, 팀의 정보와 AI의 실수를 복리처럼 쌓아가는 핵심 문서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64208"/>
            <a:ext cx="11091672" cy="7315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6CF9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28800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우리 팀의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828800"/>
            <a:ext cx="6675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목적, 주요 업무 한 줄 정의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05456"/>
            <a:ext cx="11091672" cy="7315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6CF9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7004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컨텍스트 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70048"/>
            <a:ext cx="6675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Notion 링크, 공유 폴더, 성공 사례 모음 경로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46704"/>
            <a:ext cx="11091672" cy="7315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6CF9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1129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기본 규칙 · 톤앤매너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511296"/>
            <a:ext cx="6675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문서 구조, 어조, 데이터 표기 기준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87952"/>
            <a:ext cx="11091672" cy="731520"/>
          </a:xfrm>
          <a:prstGeom prst="rect">
            <a:avLst/>
          </a:prstGeom>
          <a:solidFill>
            <a:srgbClr val="FFF0EB"/>
          </a:solidFill>
          <a:ln w="25400">
            <a:solidFill>
              <a:srgbClr val="FF5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52544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C35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254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🚨 오답노트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352544"/>
            <a:ext cx="6675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AI가 틀릴 때마다 팀원이 추가 → 같은 실수 방지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193792"/>
            <a:ext cx="365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6CF9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937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필수 워크플로우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193792"/>
            <a:ext cx="6675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시작 전 Plan → 완료 후 검증 → 퇴근 전 /wrap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팀원이 발견한 AI의 실수가 쌓일수록, AI는 더 똑똑해진다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B6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Pretendard"/>
              </a:rPr>
              <a:t>이렇게 쌓인다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91672" cy="4572000"/>
          </a:xfrm>
          <a:prstGeom prst="rect">
            <a:avLst/>
          </a:prstGeom>
          <a:solidFill>
            <a:srgbClr val="2D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5C35"/>
                </a:solidFill>
                <a:latin typeface="Pretendard"/>
              </a:rPr>
              <a:t>🚨 팀 공용 오답노트 (Anti-patterns)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B56D"/>
                </a:solidFill>
                <a:latin typeface="Pretendard"/>
              </a:rPr>
              <a:t>[03.15 추가]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14884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경쟁사 분석 시, 2022년 이전 데이터 절대 인용 금지.</a:t>
            </a:r>
          </a:p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반드시 출처 연도 확인 → 최신 데이터만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B56D"/>
                </a:solidFill>
                <a:latin typeface="Pretendard"/>
              </a:rPr>
              <a:t>[03.20 추가]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24612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회의록 요약 시, 사담 제외.</a:t>
            </a:r>
          </a:p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오직 '결정 사항'과 '다음 할 일'만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DB56D"/>
                </a:solidFill>
                <a:latin typeface="Pretendard"/>
              </a:rPr>
              <a:t>[04.02 추가]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4340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코드 작성 시, 가짜 API 엔드포인트 생성 금지.</a:t>
            </a:r>
          </a:p>
          <a:p>
            <a:pPr algn="l"/>
            <a:r>
              <a:rPr sz="1200" b="0">
                <a:solidFill>
                  <a:srgbClr val="CCCCDD"/>
                </a:solidFill>
                <a:latin typeface="Pretendard"/>
              </a:rPr>
              <a:t>반드시 사내 공식 API 문서 경로만 사용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89320"/>
            <a:ext cx="11091672" cy="640080"/>
          </a:xfrm>
          <a:prstGeom prst="rect">
            <a:avLst/>
          </a:prstGeom>
          <a:solidFill>
            <a:srgbClr val="EB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59"/>
            <a:ext cx="11091672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B6CF9"/>
                </a:solidFill>
                <a:latin typeface="Pretendard"/>
              </a:rPr>
              <a:t>한 명이 발견하면, 팀 전체가 같은 실수를 안 한다. 이게 공유 지능이다.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A9AA8"/>
                </a:solidFill>
                <a:latin typeface="Pretendard"/>
              </a:rPr>
              <a:t>오늘 저녁부터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retendard"/>
              </a:rPr>
              <a:t>딱 이것만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4884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B6CF9"/>
                </a:solidFill>
                <a:latin typeface="Pretendard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Pretendard"/>
              </a:rPr>
              <a:t>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5877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내일 아침부터 바로 쓸 수 있도록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B6CF9"/>
                </a:solidFill>
                <a:latin typeface="Pretendard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6323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Pretendard"/>
              </a:rPr>
              <a:t>아침에 PC 켜면 Claude Code도 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564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아무 업무나 시켜본다. 사소한 것부터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8620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B6CF9"/>
                </a:solidFill>
                <a:latin typeface="Pretendard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931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Pretendard"/>
              </a:rPr>
              <a:t>퇴근 전: /wrap → commit →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709160"/>
            <a:ext cx="9994392" cy="1371600"/>
          </a:xfrm>
          <a:prstGeom prst="rect">
            <a:avLst/>
          </a:prstGeom>
          <a:solidFill>
            <a:srgbClr val="25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8006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CF9"/>
                </a:solidFill>
                <a:latin typeface="Pretendard"/>
              </a:rPr>
              <a:t>/wrap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8006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80060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BBBCC"/>
                </a:solidFill>
                <a:latin typeface="Pretendard"/>
              </a:rPr>
              <a:t>AI가 오늘 작업을 자동 정리하고, 문서를 갱신하고, 내일 할 일까지 뽑아준다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846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CF9"/>
                </a:solidFill>
                <a:latin typeface="Pretendard"/>
              </a:rPr>
              <a:t>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51846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18464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BBBCC"/>
                </a:solidFill>
                <a:latin typeface="Pretendard"/>
              </a:rPr>
              <a:t>오늘 작업의 "저장점"을 찍는다 (문서에 버전 번호 붙이는 것과 같다)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5686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CF9"/>
                </a:solidFill>
                <a:latin typeface="Pretendard"/>
              </a:rPr>
              <a:t>push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556869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A8"/>
                </a:solidFill>
                <a:latin typeface="Pretendard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568696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BBBCC"/>
                </a:solidFill>
                <a:latin typeface="Pretendard"/>
              </a:rPr>
              <a:t>그 저장점을 클라우드에 올린다 (공유 드라이브에 올리는 것과 같다)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6263640"/>
            <a:ext cx="9994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5B6CF9"/>
                </a:solidFill>
                <a:latin typeface="Pretendard"/>
              </a:rPr>
              <a:t>이 3개만 매일 반복하면, 컨텍스트의 복리가 시작된다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